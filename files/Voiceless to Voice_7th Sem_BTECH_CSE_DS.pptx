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ed Hat Display Bold" charset="1" panose="02010803040201060303"/>
      <p:regular r:id="rId18"/>
    </p:embeddedFont>
    <p:embeddedFont>
      <p:font typeface="Red Hat Display" charset="1" panose="02010503040201060303"/>
      <p:regular r:id="rId19"/>
    </p:embeddedFont>
    <p:embeddedFont>
      <p:font typeface="Inter 1" charset="1" panose="02000503000000020004"/>
      <p:regular r:id="rId20"/>
    </p:embeddedFont>
    <p:embeddedFont>
      <p:font typeface="Inter 1 Bold" charset="1" panose="02000503000000020004"/>
      <p:regular r:id="rId22"/>
    </p:embeddedFont>
    <p:embeddedFont>
      <p:font typeface="Inter 2 Medium" charset="1" panose="02000503000000020004"/>
      <p:regular r:id="rId24"/>
    </p:embeddedFont>
    <p:embeddedFont>
      <p:font typeface="Inter 2 Bold" charset="1" panose="020B0802030000000004"/>
      <p:regular r:id="rId25"/>
    </p:embeddedFont>
    <p:embeddedFont>
      <p:font typeface="Inter 2" charset="1" panose="020B0502030000000004"/>
      <p:regular r:id="rId26"/>
    </p:embeddedFont>
    <p:embeddedFont>
      <p:font typeface="Arial Nova Bold" charset="1" panose="020B0804020202020204"/>
      <p:regular r:id="rId27"/>
    </p:embeddedFont>
    <p:embeddedFont>
      <p:font typeface="Arial Nova" charset="1" panose="020B0504020202020204"/>
      <p:regular r:id="rId28"/>
    </p:embeddedFont>
    <p:embeddedFont>
      <p:font typeface="Aileron Bold" charset="1" panose="00000800000000000000"/>
      <p:regular r:id="rId29"/>
    </p:embeddedFont>
    <p:embeddedFont>
      <p:font typeface="Aileron Ultra-Bold" charset="1" panose="00000A00000000000000"/>
      <p:regular r:id="rId30"/>
    </p:embeddedFont>
    <p:embeddedFont>
      <p:font typeface="Aileron" charset="1" panose="00000500000000000000"/>
      <p:regular r:id="rId31"/>
    </p:embeddedFont>
    <p:embeddedFont>
      <p:font typeface="Montserrat Bold" charset="1" panose="00000800000000000000"/>
      <p:regular r:id="rId33"/>
    </p:embeddedFont>
    <p:embeddedFont>
      <p:font typeface="DM Sans" charset="1" panose="00000000000000000000"/>
      <p:regular r:id="rId34"/>
    </p:embeddedFont>
    <p:embeddedFont>
      <p:font typeface="DM Sans Bold" charset="1" panose="00000000000000000000"/>
      <p:regular r:id="rId35"/>
    </p:embeddedFont>
    <p:embeddedFont>
      <p:font typeface="Montserrat Medium" charset="1" panose="00000600000000000000"/>
      <p:regular r:id="rId36"/>
    </p:embeddedFont>
    <p:embeddedFont>
      <p:font typeface="Inter 2 Light" charset="1" panose="02000503000000020004"/>
      <p:regular r:id="rId37"/>
    </p:embeddedFont>
    <p:embeddedFont>
      <p:font typeface="Canva Sans Bold" charset="1" panose="020B0803030501040103"/>
      <p:regular r:id="rId38"/>
    </p:embeddedFont>
    <p:embeddedFont>
      <p:font typeface="Canva Sans" charset="1" panose="020B0503030501040103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4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7.png" Type="http://schemas.openxmlformats.org/officeDocument/2006/relationships/image"/><Relationship Id="rId12" Target="../media/image8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16" Target="../media/image30.png" Type="http://schemas.openxmlformats.org/officeDocument/2006/relationships/image"/><Relationship Id="rId17" Target="../media/image31.png" Type="http://schemas.openxmlformats.org/officeDocument/2006/relationships/image"/><Relationship Id="rId18" Target="../media/image32.png" Type="http://schemas.openxmlformats.org/officeDocument/2006/relationships/image"/><Relationship Id="rId19" Target="../media/image33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34.png" Type="http://schemas.openxmlformats.org/officeDocument/2006/relationships/image"/><Relationship Id="rId21" Target="../media/image35.png" Type="http://schemas.openxmlformats.org/officeDocument/2006/relationships/image"/><Relationship Id="rId22" Target="../media/image36.png" Type="http://schemas.openxmlformats.org/officeDocument/2006/relationships/imag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png" Type="http://schemas.openxmlformats.org/officeDocument/2006/relationships/image"/><Relationship Id="rId12" Target="../media/image46.png" Type="http://schemas.openxmlformats.org/officeDocument/2006/relationships/image"/><Relationship Id="rId13" Target="../media/image47.png" Type="http://schemas.openxmlformats.org/officeDocument/2006/relationships/image"/><Relationship Id="rId14" Target="../media/image48.png" Type="http://schemas.openxmlformats.org/officeDocument/2006/relationships/image"/><Relationship Id="rId15" Target="../media/image49.png" Type="http://schemas.openxmlformats.org/officeDocument/2006/relationships/image"/><Relationship Id="rId16" Target="../media/image50.png" Type="http://schemas.openxmlformats.org/officeDocument/2006/relationships/image"/><Relationship Id="rId17" Target="../media/image51.png" Type="http://schemas.openxmlformats.org/officeDocument/2006/relationships/image"/><Relationship Id="rId18" Target="../media/image52.png" Type="http://schemas.openxmlformats.org/officeDocument/2006/relationships/image"/><Relationship Id="rId19" Target="../media/image53.png" Type="http://schemas.openxmlformats.org/officeDocument/2006/relationships/image"/><Relationship Id="rId2" Target="../media/image1.png" Type="http://schemas.openxmlformats.org/officeDocument/2006/relationships/image"/><Relationship Id="rId20" Target="../media/image54.png" Type="http://schemas.openxmlformats.org/officeDocument/2006/relationships/image"/><Relationship Id="rId21" Target="../media/image55.png" Type="http://schemas.openxmlformats.org/officeDocument/2006/relationships/image"/><Relationship Id="rId22" Target="../media/image56.png" Type="http://schemas.openxmlformats.org/officeDocument/2006/relationships/image"/><Relationship Id="rId23" Target="../media/image57.png" Type="http://schemas.openxmlformats.org/officeDocument/2006/relationships/image"/><Relationship Id="rId24" Target="../media/image58.png" Type="http://schemas.openxmlformats.org/officeDocument/2006/relationships/image"/><Relationship Id="rId25" Target="../media/image59.png" Type="http://schemas.openxmlformats.org/officeDocument/2006/relationships/image"/><Relationship Id="rId26" Target="../media/image60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14" Target="../media/image72.png" Type="http://schemas.openxmlformats.org/officeDocument/2006/relationships/image"/><Relationship Id="rId15" Target="../media/image73.png" Type="http://schemas.openxmlformats.org/officeDocument/2006/relationships/image"/><Relationship Id="rId16" Target="../media/image74.png" Type="http://schemas.openxmlformats.org/officeDocument/2006/relationships/image"/><Relationship Id="rId17" Target="../media/image75.png" Type="http://schemas.openxmlformats.org/officeDocument/2006/relationships/image"/><Relationship Id="rId18" Target="../media/image76.png" Type="http://schemas.openxmlformats.org/officeDocument/2006/relationships/image"/><Relationship Id="rId19" Target="../media/image77.png" Type="http://schemas.openxmlformats.org/officeDocument/2006/relationships/image"/><Relationship Id="rId2" Target="../media/image1.png" Type="http://schemas.openxmlformats.org/officeDocument/2006/relationships/image"/><Relationship Id="rId20" Target="../media/image78.png" Type="http://schemas.openxmlformats.org/officeDocument/2006/relationships/image"/><Relationship Id="rId21" Target="../media/image79.png" Type="http://schemas.openxmlformats.org/officeDocument/2006/relationships/image"/><Relationship Id="rId22" Target="../media/image80.png" Type="http://schemas.openxmlformats.org/officeDocument/2006/relationships/image"/><Relationship Id="rId23" Target="../media/image81.png" Type="http://schemas.openxmlformats.org/officeDocument/2006/relationships/image"/><Relationship Id="rId24" Target="../media/image82.png" Type="http://schemas.openxmlformats.org/officeDocument/2006/relationships/image"/><Relationship Id="rId25" Target="../media/image83.sv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12" Target="../media/image92.png" Type="http://schemas.openxmlformats.org/officeDocument/2006/relationships/image"/><Relationship Id="rId13" Target="../media/image93.png" Type="http://schemas.openxmlformats.org/officeDocument/2006/relationships/image"/><Relationship Id="rId14" Target="../media/image94.png" Type="http://schemas.openxmlformats.org/officeDocument/2006/relationships/image"/><Relationship Id="rId15" Target="../media/image95.png" Type="http://schemas.openxmlformats.org/officeDocument/2006/relationships/image"/><Relationship Id="rId16" Target="../media/image96.png" Type="http://schemas.openxmlformats.org/officeDocument/2006/relationships/image"/><Relationship Id="rId17" Target="../media/image97.png" Type="http://schemas.openxmlformats.org/officeDocument/2006/relationships/image"/><Relationship Id="rId18" Target="../media/image98.png" Type="http://schemas.openxmlformats.org/officeDocument/2006/relationships/image"/><Relationship Id="rId19" Target="../media/image99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100.png" Type="http://schemas.openxmlformats.org/officeDocument/2006/relationships/image"/><Relationship Id="rId21" Target="../media/image101.png" Type="http://schemas.openxmlformats.org/officeDocument/2006/relationships/image"/><Relationship Id="rId22" Target="../media/image102.png" Type="http://schemas.openxmlformats.org/officeDocument/2006/relationships/image"/><Relationship Id="rId23" Target="../media/image103.png" Type="http://schemas.openxmlformats.org/officeDocument/2006/relationships/image"/><Relationship Id="rId24" Target="../media/image104.png" Type="http://schemas.openxmlformats.org/officeDocument/2006/relationships/image"/><Relationship Id="rId25" Target="../media/image105.png" Type="http://schemas.openxmlformats.org/officeDocument/2006/relationships/image"/><Relationship Id="rId26" Target="../media/image106.png" Type="http://schemas.openxmlformats.org/officeDocument/2006/relationships/image"/><Relationship Id="rId27" Target="../media/image107.png" Type="http://schemas.openxmlformats.org/officeDocument/2006/relationships/image"/><Relationship Id="rId28" Target="../media/image108.png" Type="http://schemas.openxmlformats.org/officeDocument/2006/relationships/image"/><Relationship Id="rId29" Target="../media/image109.png" Type="http://schemas.openxmlformats.org/officeDocument/2006/relationships/image"/><Relationship Id="rId3" Target="../media/image1.png" Type="http://schemas.openxmlformats.org/officeDocument/2006/relationships/image"/><Relationship Id="rId30" Target="../media/image110.png" Type="http://schemas.openxmlformats.org/officeDocument/2006/relationships/image"/><Relationship Id="rId31" Target="../media/image111.png" Type="http://schemas.openxmlformats.org/officeDocument/2006/relationships/image"/><Relationship Id="rId32" Target="../media/image112.png" Type="http://schemas.openxmlformats.org/officeDocument/2006/relationships/image"/><Relationship Id="rId33" Target="../media/image113.png" Type="http://schemas.openxmlformats.org/officeDocument/2006/relationships/image"/><Relationship Id="rId34" Target="../media/image114.png" Type="http://schemas.openxmlformats.org/officeDocument/2006/relationships/image"/><Relationship Id="rId35" Target="../media/image115.png" Type="http://schemas.openxmlformats.org/officeDocument/2006/relationships/image"/><Relationship Id="rId36" Target="../media/image116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4.png" Type="http://schemas.openxmlformats.org/officeDocument/2006/relationships/image"/><Relationship Id="rId11" Target="../media/image125.png" Type="http://schemas.openxmlformats.org/officeDocument/2006/relationships/image"/><Relationship Id="rId12" Target="../media/image126.png" Type="http://schemas.openxmlformats.org/officeDocument/2006/relationships/image"/><Relationship Id="rId13" Target="../media/image82.png" Type="http://schemas.openxmlformats.org/officeDocument/2006/relationships/image"/><Relationship Id="rId14" Target="../media/image83.svg" Type="http://schemas.openxmlformats.org/officeDocument/2006/relationships/image"/><Relationship Id="rId2" Target="../media/image1.png" Type="http://schemas.openxmlformats.org/officeDocument/2006/relationships/image"/><Relationship Id="rId3" Target="../media/image117.png" Type="http://schemas.openxmlformats.org/officeDocument/2006/relationships/image"/><Relationship Id="rId4" Target="../media/image118.png" Type="http://schemas.openxmlformats.org/officeDocument/2006/relationships/image"/><Relationship Id="rId5" Target="../media/image119.png" Type="http://schemas.openxmlformats.org/officeDocument/2006/relationships/image"/><Relationship Id="rId6" Target="../media/image120.png" Type="http://schemas.openxmlformats.org/officeDocument/2006/relationships/image"/><Relationship Id="rId7" Target="../media/image121.png" Type="http://schemas.openxmlformats.org/officeDocument/2006/relationships/image"/><Relationship Id="rId8" Target="../media/image122.png" Type="http://schemas.openxmlformats.org/officeDocument/2006/relationships/image"/><Relationship Id="rId9" Target="../media/image1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4.png" Type="http://schemas.openxmlformats.org/officeDocument/2006/relationships/image"/><Relationship Id="rId11" Target="../media/image135.png" Type="http://schemas.openxmlformats.org/officeDocument/2006/relationships/image"/><Relationship Id="rId12" Target="../media/image136.png" Type="http://schemas.openxmlformats.org/officeDocument/2006/relationships/image"/><Relationship Id="rId13" Target="../media/image137.png" Type="http://schemas.openxmlformats.org/officeDocument/2006/relationships/image"/><Relationship Id="rId14" Target="../media/image138.png" Type="http://schemas.openxmlformats.org/officeDocument/2006/relationships/image"/><Relationship Id="rId15" Target="../media/image139.png" Type="http://schemas.openxmlformats.org/officeDocument/2006/relationships/image"/><Relationship Id="rId16" Target="../media/image140.png" Type="http://schemas.openxmlformats.org/officeDocument/2006/relationships/image"/><Relationship Id="rId17" Target="../media/image141.png" Type="http://schemas.openxmlformats.org/officeDocument/2006/relationships/image"/><Relationship Id="rId18" Target="../media/image142.png" Type="http://schemas.openxmlformats.org/officeDocument/2006/relationships/image"/><Relationship Id="rId19" Target="../media/image143.png" Type="http://schemas.openxmlformats.org/officeDocument/2006/relationships/image"/><Relationship Id="rId2" Target="../media/image1.png" Type="http://schemas.openxmlformats.org/officeDocument/2006/relationships/image"/><Relationship Id="rId20" Target="../media/image144.png" Type="http://schemas.openxmlformats.org/officeDocument/2006/relationships/image"/><Relationship Id="rId21" Target="../media/image145.png" Type="http://schemas.openxmlformats.org/officeDocument/2006/relationships/image"/><Relationship Id="rId22" Target="../media/image146.png" Type="http://schemas.openxmlformats.org/officeDocument/2006/relationships/image"/><Relationship Id="rId23" Target="../media/image147.png" Type="http://schemas.openxmlformats.org/officeDocument/2006/relationships/image"/><Relationship Id="rId24" Target="../media/image148.png" Type="http://schemas.openxmlformats.org/officeDocument/2006/relationships/image"/><Relationship Id="rId25" Target="../media/image149.png" Type="http://schemas.openxmlformats.org/officeDocument/2006/relationships/image"/><Relationship Id="rId26" Target="../media/image150.png" Type="http://schemas.openxmlformats.org/officeDocument/2006/relationships/image"/><Relationship Id="rId27" Target="../media/image151.png" Type="http://schemas.openxmlformats.org/officeDocument/2006/relationships/image"/><Relationship Id="rId28" Target="../media/image152.png" Type="http://schemas.openxmlformats.org/officeDocument/2006/relationships/image"/><Relationship Id="rId29" Target="../media/image153.png" Type="http://schemas.openxmlformats.org/officeDocument/2006/relationships/image"/><Relationship Id="rId3" Target="../media/image127.png" Type="http://schemas.openxmlformats.org/officeDocument/2006/relationships/image"/><Relationship Id="rId4" Target="../media/image128.png" Type="http://schemas.openxmlformats.org/officeDocument/2006/relationships/image"/><Relationship Id="rId5" Target="../media/image129.png" Type="http://schemas.openxmlformats.org/officeDocument/2006/relationships/image"/><Relationship Id="rId6" Target="../media/image130.png" Type="http://schemas.openxmlformats.org/officeDocument/2006/relationships/image"/><Relationship Id="rId7" Target="../media/image131.png" Type="http://schemas.openxmlformats.org/officeDocument/2006/relationships/image"/><Relationship Id="rId8" Target="../media/image132.png" Type="http://schemas.openxmlformats.org/officeDocument/2006/relationships/image"/><Relationship Id="rId9" Target="../media/image1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54.png" Type="http://schemas.openxmlformats.org/officeDocument/2006/relationships/image"/><Relationship Id="rId4" Target="../media/image155.png" Type="http://schemas.openxmlformats.org/officeDocument/2006/relationships/image"/><Relationship Id="rId5" Target="../media/image156.svg" Type="http://schemas.openxmlformats.org/officeDocument/2006/relationships/image"/><Relationship Id="rId6" Target="../media/image157.png" Type="http://schemas.openxmlformats.org/officeDocument/2006/relationships/image"/><Relationship Id="rId7" Target="../media/image158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695516" y="-7205348"/>
            <a:ext cx="27974306" cy="14259706"/>
            <a:chOff x="0" y="0"/>
            <a:chExt cx="37299074" cy="19012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381" r="0" b="-703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22147" y="3943302"/>
            <a:ext cx="27974306" cy="14259706"/>
            <a:chOff x="0" y="0"/>
            <a:chExt cx="37299074" cy="190129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381" r="0" b="-7038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56374" y="1410776"/>
            <a:ext cx="9007669" cy="9007669"/>
            <a:chOff x="0" y="0"/>
            <a:chExt cx="12010225" cy="120102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10263" cy="12010263"/>
            </a:xfrm>
            <a:custGeom>
              <a:avLst/>
              <a:gdLst/>
              <a:ahLst/>
              <a:cxnLst/>
              <a:rect r="r" b="b" t="t" l="l"/>
              <a:pathLst>
                <a:path h="12010263" w="12010263">
                  <a:moveTo>
                    <a:pt x="0" y="0"/>
                  </a:moveTo>
                  <a:lnTo>
                    <a:pt x="12010263" y="0"/>
                  </a:lnTo>
                  <a:lnTo>
                    <a:pt x="12010263" y="12010263"/>
                  </a:lnTo>
                  <a:lnTo>
                    <a:pt x="0" y="12010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975142" y="4436478"/>
            <a:ext cx="3230766" cy="3339255"/>
          </a:xfrm>
          <a:custGeom>
            <a:avLst/>
            <a:gdLst/>
            <a:ahLst/>
            <a:cxnLst/>
            <a:rect r="r" b="b" t="t" l="l"/>
            <a:pathLst>
              <a:path h="3339255" w="3230766">
                <a:moveTo>
                  <a:pt x="0" y="0"/>
                </a:moveTo>
                <a:lnTo>
                  <a:pt x="3230766" y="0"/>
                </a:lnTo>
                <a:lnTo>
                  <a:pt x="3230766" y="3339256"/>
                </a:lnTo>
                <a:lnTo>
                  <a:pt x="0" y="33392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50247" y="4133783"/>
            <a:ext cx="3086100" cy="483518"/>
          </a:xfrm>
          <a:custGeom>
            <a:avLst/>
            <a:gdLst/>
            <a:ahLst/>
            <a:cxnLst/>
            <a:rect r="r" b="b" t="t" l="l"/>
            <a:pathLst>
              <a:path h="483518" w="3086100">
                <a:moveTo>
                  <a:pt x="0" y="0"/>
                </a:moveTo>
                <a:lnTo>
                  <a:pt x="3086100" y="0"/>
                </a:lnTo>
                <a:lnTo>
                  <a:pt x="3086100" y="483518"/>
                </a:lnTo>
                <a:lnTo>
                  <a:pt x="0" y="4835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522344" y="4358859"/>
            <a:ext cx="1257224" cy="237734"/>
            <a:chOff x="0" y="0"/>
            <a:chExt cx="1676298" cy="3169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6273" cy="316992"/>
            </a:xfrm>
            <a:custGeom>
              <a:avLst/>
              <a:gdLst/>
              <a:ahLst/>
              <a:cxnLst/>
              <a:rect r="r" b="b" t="t" l="l"/>
              <a:pathLst>
                <a:path h="316992" w="1676273">
                  <a:moveTo>
                    <a:pt x="0" y="0"/>
                  </a:moveTo>
                  <a:lnTo>
                    <a:pt x="1676273" y="0"/>
                  </a:lnTo>
                  <a:lnTo>
                    <a:pt x="1676273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81" t="0" r="-183" b="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01713" y="4371661"/>
            <a:ext cx="274034" cy="224923"/>
            <a:chOff x="0" y="0"/>
            <a:chExt cx="365379" cy="299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379" cy="299847"/>
            </a:xfrm>
            <a:custGeom>
              <a:avLst/>
              <a:gdLst/>
              <a:ahLst/>
              <a:cxnLst/>
              <a:rect r="r" b="b" t="t" l="l"/>
              <a:pathLst>
                <a:path h="299847" w="365379">
                  <a:moveTo>
                    <a:pt x="0" y="0"/>
                  </a:moveTo>
                  <a:lnTo>
                    <a:pt x="365379" y="0"/>
                  </a:lnTo>
                  <a:lnTo>
                    <a:pt x="365379" y="299847"/>
                  </a:lnTo>
                  <a:lnTo>
                    <a:pt x="0" y="299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0919" r="0" b="-1093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106644" y="3541566"/>
            <a:ext cx="2731970" cy="1310735"/>
            <a:chOff x="0" y="0"/>
            <a:chExt cx="3642627" cy="17476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42614" cy="1747647"/>
            </a:xfrm>
            <a:custGeom>
              <a:avLst/>
              <a:gdLst/>
              <a:ahLst/>
              <a:cxnLst/>
              <a:rect r="r" b="b" t="t" l="l"/>
              <a:pathLst>
                <a:path h="1747647" w="3642614">
                  <a:moveTo>
                    <a:pt x="0" y="0"/>
                  </a:moveTo>
                  <a:lnTo>
                    <a:pt x="3642614" y="0"/>
                  </a:lnTo>
                  <a:lnTo>
                    <a:pt x="3642614" y="1747647"/>
                  </a:lnTo>
                  <a:lnTo>
                    <a:pt x="0" y="174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4214" r="0" b="-5421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979293" y="1757974"/>
            <a:ext cx="8204997" cy="296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11"/>
              </a:lnSpc>
            </a:pPr>
            <a:r>
              <a:rPr lang="en-US" b="true" sz="9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VOICELESS TO VOICE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31016" y="4954491"/>
            <a:ext cx="8370303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Real-Time Indian Sign Language (ISL) to </a:t>
            </a:r>
          </a:p>
          <a:p>
            <a:pPr algn="l">
              <a:lnSpc>
                <a:spcPts val="3840"/>
              </a:lnSpc>
            </a:pPr>
            <a:r>
              <a:rPr lang="en-US" sz="3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Speech Conversion using Deep Learning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31016" y="6521350"/>
            <a:ext cx="8062798" cy="23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889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Guide</a:t>
            </a:r>
            <a:r>
              <a:rPr lang="en-US" sz="288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: Dr. Brijbihari Dubey</a:t>
            </a:r>
          </a:p>
          <a:p>
            <a:pPr algn="l">
              <a:lnSpc>
                <a:spcPts val="3698"/>
              </a:lnSpc>
            </a:pPr>
          </a:p>
          <a:p>
            <a:pPr algn="l">
              <a:lnSpc>
                <a:spcPts val="3698"/>
              </a:lnSpc>
            </a:pPr>
          </a:p>
          <a:p>
            <a:pPr algn="l">
              <a:lnSpc>
                <a:spcPts val="3698"/>
              </a:lnSpc>
            </a:pPr>
          </a:p>
          <a:p>
            <a:pPr algn="l">
              <a:lnSpc>
                <a:spcPts val="369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8121491" y="7559183"/>
            <a:ext cx="8370303" cy="56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2"/>
              </a:lnSpc>
            </a:pPr>
            <a:r>
              <a:rPr lang="en-US" b="true" sz="27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BTECH CSE (DS) 7TH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21491" y="8361455"/>
            <a:ext cx="3638102" cy="84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BHANKALE YASH</a:t>
            </a:r>
          </a:p>
          <a:p>
            <a:pPr algn="l">
              <a:lnSpc>
                <a:spcPts val="3310"/>
              </a:lnSpc>
            </a:pPr>
            <a:r>
              <a:rPr lang="en-US" sz="23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KARANDIKAR SAKSHAT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11964761" y="2119518"/>
            <a:ext cx="2871406" cy="769391"/>
          </a:xfrm>
          <a:prstGeom prst="line">
            <a:avLst/>
          </a:prstGeom>
          <a:ln cap="rnd" w="762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2541020" y="8361455"/>
            <a:ext cx="3638102" cy="84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SHINGOTE AMRUTA</a:t>
            </a:r>
          </a:p>
          <a:p>
            <a:pPr algn="l">
              <a:lnSpc>
                <a:spcPts val="3310"/>
              </a:lnSpc>
            </a:pPr>
            <a:r>
              <a:rPr lang="en-US" sz="23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MORE HIMANSHU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6501320" y="282970"/>
            <a:ext cx="1491460" cy="1491460"/>
            <a:chOff x="0" y="0"/>
            <a:chExt cx="2286000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305116" y="-7129853"/>
            <a:ext cx="27974306" cy="14259706"/>
            <a:chOff x="0" y="0"/>
            <a:chExt cx="37299074" cy="19012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381" r="0" b="-703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36347" y="4056050"/>
            <a:ext cx="27974306" cy="14259706"/>
            <a:chOff x="0" y="0"/>
            <a:chExt cx="37299074" cy="190129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381" r="0" b="-703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4279544"/>
            <a:ext cx="7603798" cy="464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798" indent="-167599" lvl="2">
              <a:lnSpc>
                <a:spcPts val="4064"/>
              </a:lnSpc>
              <a:buFont typeface="Arial"/>
              <a:buChar char="⚬"/>
            </a:pPr>
            <a:r>
              <a:rPr lang="en-US" b="true" sz="2199">
                <a:solidFill>
                  <a:srgbClr val="FF3131"/>
                </a:solidFill>
                <a:latin typeface="Inter 1 Bold"/>
                <a:ea typeface="Inter 1 Bold"/>
                <a:cs typeface="Inter 1 Bold"/>
                <a:sym typeface="Inter 1 Bold"/>
              </a:rPr>
              <a:t>Scalability: </a:t>
            </a:r>
            <a:r>
              <a:rPr lang="en-US" sz="21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Human interpreters are vital but are often expensive and unavailable for spontaneous, daily interactions.</a:t>
            </a:r>
          </a:p>
          <a:p>
            <a:pPr algn="l" marL="502798" indent="-167599" lvl="2">
              <a:lnSpc>
                <a:spcPts val="4064"/>
              </a:lnSpc>
              <a:buFont typeface="Arial"/>
              <a:buChar char="⚬"/>
            </a:pPr>
            <a:r>
              <a:rPr lang="en-US" b="true" sz="2199">
                <a:solidFill>
                  <a:srgbClr val="FF3131"/>
                </a:solidFill>
                <a:latin typeface="Inter 1 Bold"/>
                <a:ea typeface="Inter 1 Bold"/>
                <a:cs typeface="Inter 1 Bold"/>
                <a:sym typeface="Inter 1 Bold"/>
              </a:rPr>
              <a:t>Hardware Constraints: </a:t>
            </a:r>
            <a:r>
              <a:rPr lang="en-US" sz="21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Many existing digital solutions require bulky sensors or high-end processing power that isn't accessible to everyone.</a:t>
            </a:r>
          </a:p>
          <a:p>
            <a:pPr algn="l" marL="502798" indent="-167599" lvl="2">
              <a:lnSpc>
                <a:spcPts val="4064"/>
              </a:lnSpc>
              <a:buFont typeface="Arial"/>
              <a:buChar char="⚬"/>
            </a:pPr>
            <a:r>
              <a:rPr lang="en-US" b="true" sz="2199">
                <a:solidFill>
                  <a:srgbClr val="FF3131"/>
                </a:solidFill>
                <a:latin typeface="Inter 1 Bold"/>
                <a:ea typeface="Inter 1 Bold"/>
                <a:cs typeface="Inter 1 Bold"/>
                <a:sym typeface="Inter 1 Bold"/>
              </a:rPr>
              <a:t>The Real-Time Gap: </a:t>
            </a:r>
            <a:r>
              <a:rPr lang="en-US" sz="21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Current technology often solves the "recognition" problem but fails to provide the human element: instant, spoken feedback.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00125" y="9058075"/>
            <a:ext cx="860069" cy="333575"/>
          </a:xfrm>
          <a:custGeom>
            <a:avLst/>
            <a:gdLst/>
            <a:ahLst/>
            <a:cxnLst/>
            <a:rect r="r" b="b" t="t" l="l"/>
            <a:pathLst>
              <a:path h="333575" w="860069">
                <a:moveTo>
                  <a:pt x="0" y="0"/>
                </a:moveTo>
                <a:lnTo>
                  <a:pt x="860069" y="0"/>
                </a:lnTo>
                <a:lnTo>
                  <a:pt x="860069" y="333575"/>
                </a:lnTo>
                <a:lnTo>
                  <a:pt x="0" y="3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490910" y="2087175"/>
            <a:ext cx="7768533" cy="7171258"/>
            <a:chOff x="0" y="0"/>
            <a:chExt cx="10358044" cy="9561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58120" cy="9561703"/>
            </a:xfrm>
            <a:custGeom>
              <a:avLst/>
              <a:gdLst/>
              <a:ahLst/>
              <a:cxnLst/>
              <a:rect r="r" b="b" t="t" l="l"/>
              <a:pathLst>
                <a:path h="9561703" w="10358120">
                  <a:moveTo>
                    <a:pt x="253365" y="0"/>
                  </a:moveTo>
                  <a:lnTo>
                    <a:pt x="10104755" y="0"/>
                  </a:lnTo>
                  <a:cubicBezTo>
                    <a:pt x="10244710" y="0"/>
                    <a:pt x="10358120" y="113411"/>
                    <a:pt x="10358120" y="253365"/>
                  </a:cubicBezTo>
                  <a:lnTo>
                    <a:pt x="10358120" y="9308338"/>
                  </a:lnTo>
                  <a:cubicBezTo>
                    <a:pt x="10358120" y="9448292"/>
                    <a:pt x="10244710" y="9561703"/>
                    <a:pt x="10104755" y="9561703"/>
                  </a:cubicBezTo>
                  <a:lnTo>
                    <a:pt x="253365" y="9561703"/>
                  </a:lnTo>
                  <a:cubicBezTo>
                    <a:pt x="113411" y="9561703"/>
                    <a:pt x="0" y="9448292"/>
                    <a:pt x="0" y="9308338"/>
                  </a:cubicBezTo>
                  <a:lnTo>
                    <a:pt x="0" y="253365"/>
                  </a:lnTo>
                  <a:cubicBezTo>
                    <a:pt x="0" y="113411"/>
                    <a:pt x="113411" y="0"/>
                    <a:pt x="25336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-71073" b="-108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539926"/>
            <a:ext cx="8115300" cy="110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8"/>
              </a:lnSpc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THE SILENT BARRIER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876074"/>
            <a:ext cx="7603798" cy="138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4"/>
              </a:lnSpc>
            </a:pPr>
            <a:r>
              <a:rPr lang="en-US" sz="21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Millions of individuals worldwide rely on sign language as their primary mode of communication, yet a massive gap exists between them and the hearing world.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66050" y="885825"/>
            <a:ext cx="1393203" cy="418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28"/>
              </a:lnSpc>
            </a:pPr>
            <a:r>
              <a:rPr lang="en-US" b="true" sz="210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PAGE 02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094550" y="4678575"/>
            <a:ext cx="2750791" cy="2843165"/>
          </a:xfrm>
          <a:custGeom>
            <a:avLst/>
            <a:gdLst/>
            <a:ahLst/>
            <a:cxnLst/>
            <a:rect r="r" b="b" t="t" l="l"/>
            <a:pathLst>
              <a:path h="2843165" w="2750791">
                <a:moveTo>
                  <a:pt x="0" y="0"/>
                </a:moveTo>
                <a:lnTo>
                  <a:pt x="2750791" y="0"/>
                </a:lnTo>
                <a:lnTo>
                  <a:pt x="2750791" y="2843165"/>
                </a:lnTo>
                <a:lnTo>
                  <a:pt x="0" y="2843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58501" y="4420857"/>
            <a:ext cx="2627624" cy="411680"/>
          </a:xfrm>
          <a:custGeom>
            <a:avLst/>
            <a:gdLst/>
            <a:ahLst/>
            <a:cxnLst/>
            <a:rect r="r" b="b" t="t" l="l"/>
            <a:pathLst>
              <a:path h="411680" w="2627624">
                <a:moveTo>
                  <a:pt x="0" y="0"/>
                </a:moveTo>
                <a:lnTo>
                  <a:pt x="2627623" y="0"/>
                </a:lnTo>
                <a:lnTo>
                  <a:pt x="2627623" y="411680"/>
                </a:lnTo>
                <a:lnTo>
                  <a:pt x="0" y="411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560465" y="4612481"/>
            <a:ext cx="1070448" cy="202416"/>
            <a:chOff x="0" y="0"/>
            <a:chExt cx="1427264" cy="2698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7226" cy="269875"/>
            </a:xfrm>
            <a:custGeom>
              <a:avLst/>
              <a:gdLst/>
              <a:ahLst/>
              <a:cxnLst/>
              <a:rect r="r" b="b" t="t" l="l"/>
              <a:pathLst>
                <a:path h="269875" w="1427226">
                  <a:moveTo>
                    <a:pt x="0" y="0"/>
                  </a:moveTo>
                  <a:lnTo>
                    <a:pt x="1427226" y="0"/>
                  </a:lnTo>
                  <a:lnTo>
                    <a:pt x="1427226" y="269875"/>
                  </a:lnTo>
                  <a:lnTo>
                    <a:pt x="0" y="26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81" t="0" r="-185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287460" y="4623387"/>
            <a:ext cx="233315" cy="191510"/>
            <a:chOff x="0" y="0"/>
            <a:chExt cx="311086" cy="2553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1150" cy="255397"/>
            </a:xfrm>
            <a:custGeom>
              <a:avLst/>
              <a:gdLst/>
              <a:ahLst/>
              <a:cxnLst/>
              <a:rect r="r" b="b" t="t" l="l"/>
              <a:pathLst>
                <a:path h="255397" w="311150">
                  <a:moveTo>
                    <a:pt x="0" y="0"/>
                  </a:moveTo>
                  <a:lnTo>
                    <a:pt x="311150" y="0"/>
                  </a:lnTo>
                  <a:lnTo>
                    <a:pt x="311150" y="255397"/>
                  </a:lnTo>
                  <a:lnTo>
                    <a:pt x="0" y="2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0914" r="20" b="-1089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695516" y="-7205348"/>
            <a:ext cx="27974306" cy="14259706"/>
            <a:chOff x="0" y="0"/>
            <a:chExt cx="37299074" cy="19012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381" r="0" b="-703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22147" y="3943302"/>
            <a:ext cx="27974306" cy="14259706"/>
            <a:chOff x="0" y="0"/>
            <a:chExt cx="37299074" cy="190129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381" r="0" b="-703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94091" y="1314826"/>
            <a:ext cx="3213454" cy="27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b="true" sz="2138" spc="213">
                <a:solidFill>
                  <a:srgbClr val="F10F0F"/>
                </a:solidFill>
                <a:latin typeface="Inter 2 Medium"/>
                <a:ea typeface="Inter 2 Medium"/>
                <a:cs typeface="Inter 2 Medium"/>
                <a:sym typeface="Inter 2 Medium"/>
              </a:rPr>
              <a:t>SYSTEM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5833" y="1929369"/>
            <a:ext cx="15209132" cy="942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1"/>
              </a:lnSpc>
            </a:pPr>
            <a:r>
              <a:rPr lang="en-US" sz="7111" spc="-213" b="true">
                <a:solidFill>
                  <a:srgbClr val="100D0A"/>
                </a:solidFill>
                <a:latin typeface="Inter 2 Bold"/>
                <a:ea typeface="Inter 2 Bold"/>
                <a:cs typeface="Inter 2 Bold"/>
                <a:sym typeface="Inter 2 Bold"/>
              </a:rPr>
              <a:t>How Does </a:t>
            </a:r>
            <a:r>
              <a:rPr lang="en-US" sz="7111" spc="-213" b="true">
                <a:solidFill>
                  <a:srgbClr val="F10F0F"/>
                </a:solidFill>
                <a:latin typeface="Inter 2 Bold"/>
                <a:ea typeface="Inter 2 Bold"/>
                <a:cs typeface="Inter 2 Bold"/>
                <a:sym typeface="Inter 2 Bold"/>
              </a:rPr>
              <a:t>Voiceless to Voice</a:t>
            </a:r>
            <a:r>
              <a:rPr lang="en-US" sz="7111" spc="-213" b="true">
                <a:solidFill>
                  <a:srgbClr val="100D0A"/>
                </a:solidFill>
                <a:latin typeface="Inter 2 Bold"/>
                <a:ea typeface="Inter 2 Bold"/>
                <a:cs typeface="Inter 2 Bold"/>
                <a:sym typeface="Inter 2 Bold"/>
              </a:rPr>
              <a:t> Work?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80375" y="2870240"/>
            <a:ext cx="1321322" cy="436801"/>
          </a:xfrm>
          <a:custGeom>
            <a:avLst/>
            <a:gdLst/>
            <a:ahLst/>
            <a:cxnLst/>
            <a:rect r="r" b="b" t="t" l="l"/>
            <a:pathLst>
              <a:path h="436801" w="1321322">
                <a:moveTo>
                  <a:pt x="0" y="0"/>
                </a:moveTo>
                <a:lnTo>
                  <a:pt x="1321322" y="0"/>
                </a:lnTo>
                <a:lnTo>
                  <a:pt x="1321322" y="436800"/>
                </a:lnTo>
                <a:lnTo>
                  <a:pt x="0" y="436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5833" y="3412117"/>
            <a:ext cx="11520963" cy="42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</a:pPr>
            <a:r>
              <a:rPr lang="en-US" sz="3227" spc="-96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End-to-end pipeline: gesture to spoken word in under 500ms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1975" y="4366281"/>
            <a:ext cx="3057604" cy="2369643"/>
          </a:xfrm>
          <a:custGeom>
            <a:avLst/>
            <a:gdLst/>
            <a:ahLst/>
            <a:cxnLst/>
            <a:rect r="r" b="b" t="t" l="l"/>
            <a:pathLst>
              <a:path h="2369643" w="3057604">
                <a:moveTo>
                  <a:pt x="0" y="0"/>
                </a:moveTo>
                <a:lnTo>
                  <a:pt x="3057604" y="0"/>
                </a:lnTo>
                <a:lnTo>
                  <a:pt x="3057604" y="2369643"/>
                </a:lnTo>
                <a:lnTo>
                  <a:pt x="0" y="2369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53976" y="4584682"/>
            <a:ext cx="873601" cy="862681"/>
          </a:xfrm>
          <a:custGeom>
            <a:avLst/>
            <a:gdLst/>
            <a:ahLst/>
            <a:cxnLst/>
            <a:rect r="r" b="b" t="t" l="l"/>
            <a:pathLst>
              <a:path h="862681" w="873601">
                <a:moveTo>
                  <a:pt x="0" y="0"/>
                </a:moveTo>
                <a:lnTo>
                  <a:pt x="873601" y="0"/>
                </a:lnTo>
                <a:lnTo>
                  <a:pt x="873601" y="862681"/>
                </a:lnTo>
                <a:lnTo>
                  <a:pt x="0" y="86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06163" y="5643355"/>
            <a:ext cx="1205045" cy="30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b="true" sz="2300" spc="-69">
                <a:solidFill>
                  <a:srgbClr val="100D0A"/>
                </a:solidFill>
                <a:latin typeface="Inter 2 Bold"/>
                <a:ea typeface="Inter 2 Bold"/>
                <a:cs typeface="Inter 2 Bold"/>
                <a:sym typeface="Inter 2 Bold"/>
              </a:rPr>
              <a:t>Webcam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8746" y="6045617"/>
            <a:ext cx="821622" cy="26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937" spc="-58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30 FPS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608659" y="5228962"/>
            <a:ext cx="447721" cy="436801"/>
          </a:xfrm>
          <a:custGeom>
            <a:avLst/>
            <a:gdLst/>
            <a:ahLst/>
            <a:cxnLst/>
            <a:rect r="r" b="b" t="t" l="l"/>
            <a:pathLst>
              <a:path h="436801" w="447721">
                <a:moveTo>
                  <a:pt x="0" y="0"/>
                </a:moveTo>
                <a:lnTo>
                  <a:pt x="447720" y="0"/>
                </a:lnTo>
                <a:lnTo>
                  <a:pt x="447720" y="436801"/>
                </a:lnTo>
                <a:lnTo>
                  <a:pt x="0" y="4368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45459" y="4366281"/>
            <a:ext cx="3046684" cy="2369643"/>
          </a:xfrm>
          <a:custGeom>
            <a:avLst/>
            <a:gdLst/>
            <a:ahLst/>
            <a:cxnLst/>
            <a:rect r="r" b="b" t="t" l="l"/>
            <a:pathLst>
              <a:path h="2369643" w="3046684">
                <a:moveTo>
                  <a:pt x="0" y="0"/>
                </a:moveTo>
                <a:lnTo>
                  <a:pt x="3046684" y="0"/>
                </a:lnTo>
                <a:lnTo>
                  <a:pt x="3046684" y="2369643"/>
                </a:lnTo>
                <a:lnTo>
                  <a:pt x="0" y="23696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126540" y="4584682"/>
            <a:ext cx="884521" cy="862681"/>
          </a:xfrm>
          <a:custGeom>
            <a:avLst/>
            <a:gdLst/>
            <a:ahLst/>
            <a:cxnLst/>
            <a:rect r="r" b="b" t="t" l="l"/>
            <a:pathLst>
              <a:path h="862681" w="884521">
                <a:moveTo>
                  <a:pt x="0" y="0"/>
                </a:moveTo>
                <a:lnTo>
                  <a:pt x="884521" y="0"/>
                </a:lnTo>
                <a:lnTo>
                  <a:pt x="884521" y="862681"/>
                </a:lnTo>
                <a:lnTo>
                  <a:pt x="0" y="8626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774392" y="6045617"/>
            <a:ext cx="1716277" cy="26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937" spc="-58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138 Landmarks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081223" y="5228962"/>
            <a:ext cx="666121" cy="436801"/>
          </a:xfrm>
          <a:custGeom>
            <a:avLst/>
            <a:gdLst/>
            <a:ahLst/>
            <a:cxnLst/>
            <a:rect r="r" b="b" t="t" l="l"/>
            <a:pathLst>
              <a:path h="436801" w="666121">
                <a:moveTo>
                  <a:pt x="0" y="0"/>
                </a:moveTo>
                <a:lnTo>
                  <a:pt x="666120" y="0"/>
                </a:lnTo>
                <a:lnTo>
                  <a:pt x="666120" y="436801"/>
                </a:lnTo>
                <a:lnTo>
                  <a:pt x="0" y="4368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518023" y="4366281"/>
            <a:ext cx="3057604" cy="2369643"/>
          </a:xfrm>
          <a:custGeom>
            <a:avLst/>
            <a:gdLst/>
            <a:ahLst/>
            <a:cxnLst/>
            <a:rect r="r" b="b" t="t" l="l"/>
            <a:pathLst>
              <a:path h="2369643" w="3057604">
                <a:moveTo>
                  <a:pt x="0" y="0"/>
                </a:moveTo>
                <a:lnTo>
                  <a:pt x="3057604" y="0"/>
                </a:lnTo>
                <a:lnTo>
                  <a:pt x="3057604" y="2369643"/>
                </a:lnTo>
                <a:lnTo>
                  <a:pt x="0" y="23696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10024" y="4584682"/>
            <a:ext cx="873601" cy="862681"/>
          </a:xfrm>
          <a:custGeom>
            <a:avLst/>
            <a:gdLst/>
            <a:ahLst/>
            <a:cxnLst/>
            <a:rect r="r" b="b" t="t" l="l"/>
            <a:pathLst>
              <a:path h="862681" w="873601">
                <a:moveTo>
                  <a:pt x="0" y="0"/>
                </a:moveTo>
                <a:lnTo>
                  <a:pt x="873601" y="0"/>
                </a:lnTo>
                <a:lnTo>
                  <a:pt x="873601" y="862681"/>
                </a:lnTo>
                <a:lnTo>
                  <a:pt x="0" y="8626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444302" y="6045617"/>
            <a:ext cx="1205045" cy="26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937" spc="-58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60 Frames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564707" y="5228962"/>
            <a:ext cx="666121" cy="436801"/>
          </a:xfrm>
          <a:custGeom>
            <a:avLst/>
            <a:gdLst/>
            <a:ahLst/>
            <a:cxnLst/>
            <a:rect r="r" b="b" t="t" l="l"/>
            <a:pathLst>
              <a:path h="436801" w="666121">
                <a:moveTo>
                  <a:pt x="0" y="0"/>
                </a:moveTo>
                <a:lnTo>
                  <a:pt x="666120" y="0"/>
                </a:lnTo>
                <a:lnTo>
                  <a:pt x="666120" y="436801"/>
                </a:lnTo>
                <a:lnTo>
                  <a:pt x="0" y="4368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19907" y="4366281"/>
            <a:ext cx="2828283" cy="2369643"/>
          </a:xfrm>
          <a:custGeom>
            <a:avLst/>
            <a:gdLst/>
            <a:ahLst/>
            <a:cxnLst/>
            <a:rect r="r" b="b" t="t" l="l"/>
            <a:pathLst>
              <a:path h="2369643" w="2828283">
                <a:moveTo>
                  <a:pt x="0" y="0"/>
                </a:moveTo>
                <a:lnTo>
                  <a:pt x="2828284" y="0"/>
                </a:lnTo>
                <a:lnTo>
                  <a:pt x="2828284" y="2369643"/>
                </a:lnTo>
                <a:lnTo>
                  <a:pt x="0" y="236964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082588" y="4584682"/>
            <a:ext cx="884521" cy="862681"/>
          </a:xfrm>
          <a:custGeom>
            <a:avLst/>
            <a:gdLst/>
            <a:ahLst/>
            <a:cxnLst/>
            <a:rect r="r" b="b" t="t" l="l"/>
            <a:pathLst>
              <a:path h="862681" w="884521">
                <a:moveTo>
                  <a:pt x="0" y="0"/>
                </a:moveTo>
                <a:lnTo>
                  <a:pt x="884521" y="0"/>
                </a:lnTo>
                <a:lnTo>
                  <a:pt x="884521" y="862681"/>
                </a:lnTo>
                <a:lnTo>
                  <a:pt x="0" y="86268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639498" y="5646396"/>
            <a:ext cx="1844084" cy="3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2380" spc="-71">
                <a:solidFill>
                  <a:srgbClr val="100D0A"/>
                </a:solidFill>
                <a:latin typeface="Inter 2 Bold"/>
                <a:ea typeface="Inter 2 Bold"/>
                <a:cs typeface="Inter 2 Bold"/>
                <a:sym typeface="Inter 2 Bold"/>
              </a:rPr>
              <a:t>BiSTM+Attn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23762" y="6068109"/>
            <a:ext cx="675556" cy="22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776" spc="-53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&lt;15ms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037271" y="5228962"/>
            <a:ext cx="666121" cy="436801"/>
          </a:xfrm>
          <a:custGeom>
            <a:avLst/>
            <a:gdLst/>
            <a:ahLst/>
            <a:cxnLst/>
            <a:rect r="r" b="b" t="t" l="l"/>
            <a:pathLst>
              <a:path h="436801" w="666121">
                <a:moveTo>
                  <a:pt x="0" y="0"/>
                </a:moveTo>
                <a:lnTo>
                  <a:pt x="666120" y="0"/>
                </a:lnTo>
                <a:lnTo>
                  <a:pt x="666120" y="436801"/>
                </a:lnTo>
                <a:lnTo>
                  <a:pt x="0" y="4368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692471" y="4366281"/>
            <a:ext cx="2839203" cy="2369643"/>
          </a:xfrm>
          <a:custGeom>
            <a:avLst/>
            <a:gdLst/>
            <a:ahLst/>
            <a:cxnLst/>
            <a:rect r="r" b="b" t="t" l="l"/>
            <a:pathLst>
              <a:path h="2369643" w="2839203">
                <a:moveTo>
                  <a:pt x="0" y="0"/>
                </a:moveTo>
                <a:lnTo>
                  <a:pt x="2839204" y="0"/>
                </a:lnTo>
                <a:lnTo>
                  <a:pt x="2839204" y="2369643"/>
                </a:lnTo>
                <a:lnTo>
                  <a:pt x="0" y="236964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566072" y="4792162"/>
            <a:ext cx="873601" cy="655201"/>
          </a:xfrm>
          <a:custGeom>
            <a:avLst/>
            <a:gdLst/>
            <a:ahLst/>
            <a:cxnLst/>
            <a:rect r="r" b="b" t="t" l="l"/>
            <a:pathLst>
              <a:path h="655201" w="873601">
                <a:moveTo>
                  <a:pt x="0" y="0"/>
                </a:moveTo>
                <a:lnTo>
                  <a:pt x="873601" y="0"/>
                </a:lnTo>
                <a:lnTo>
                  <a:pt x="873601" y="655201"/>
                </a:lnTo>
                <a:lnTo>
                  <a:pt x="0" y="65520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601541" y="6045617"/>
            <a:ext cx="876397" cy="26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937" spc="-58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pyttsx3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80375" y="6932484"/>
            <a:ext cx="16751300" cy="1943762"/>
          </a:xfrm>
          <a:custGeom>
            <a:avLst/>
            <a:gdLst/>
            <a:ahLst/>
            <a:cxnLst/>
            <a:rect r="r" b="b" t="t" l="l"/>
            <a:pathLst>
              <a:path h="1943762" w="16751300">
                <a:moveTo>
                  <a:pt x="0" y="0"/>
                </a:moveTo>
                <a:lnTo>
                  <a:pt x="16751300" y="0"/>
                </a:lnTo>
                <a:lnTo>
                  <a:pt x="16751300" y="1943763"/>
                </a:lnTo>
                <a:lnTo>
                  <a:pt x="0" y="19437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761779" y="7463943"/>
            <a:ext cx="2154475" cy="666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</a:pPr>
            <a:r>
              <a:rPr lang="en-US" b="true" sz="5038" spc="-151">
                <a:solidFill>
                  <a:srgbClr val="F10F0F"/>
                </a:solidFill>
                <a:latin typeface="Inter 2 Bold"/>
                <a:ea typeface="Inter 2 Bold"/>
                <a:cs typeface="Inter 2 Bold"/>
                <a:sym typeface="Inter 2 Bold"/>
              </a:rPr>
              <a:t>30 FPS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4689740" y="7369285"/>
            <a:ext cx="229320" cy="1288562"/>
          </a:xfrm>
          <a:custGeom>
            <a:avLst/>
            <a:gdLst/>
            <a:ahLst/>
            <a:cxnLst/>
            <a:rect r="r" b="b" t="t" l="l"/>
            <a:pathLst>
              <a:path h="1288562" w="229320">
                <a:moveTo>
                  <a:pt x="0" y="0"/>
                </a:moveTo>
                <a:lnTo>
                  <a:pt x="229320" y="0"/>
                </a:lnTo>
                <a:lnTo>
                  <a:pt x="229320" y="1288561"/>
                </a:lnTo>
                <a:lnTo>
                  <a:pt x="0" y="128856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052470" y="7483369"/>
            <a:ext cx="1898859" cy="62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4799" spc="-143">
                <a:solidFill>
                  <a:srgbClr val="F10F0F"/>
                </a:solidFill>
                <a:latin typeface="Inter 2 Bold"/>
                <a:ea typeface="Inter 2 Bold"/>
                <a:cs typeface="Inter 2 Bold"/>
                <a:sym typeface="Inter 2 Bold"/>
              </a:rPr>
              <a:t>&lt;15ms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50788" y="8205054"/>
            <a:ext cx="2665706" cy="3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2380" spc="-71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Per-Frame Latency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046825" y="7369285"/>
            <a:ext cx="218400" cy="1288562"/>
          </a:xfrm>
          <a:custGeom>
            <a:avLst/>
            <a:gdLst/>
            <a:ahLst/>
            <a:cxnLst/>
            <a:rect r="r" b="b" t="t" l="l"/>
            <a:pathLst>
              <a:path h="1288562" w="218400">
                <a:moveTo>
                  <a:pt x="0" y="0"/>
                </a:moveTo>
                <a:lnTo>
                  <a:pt x="218400" y="0"/>
                </a:lnTo>
                <a:lnTo>
                  <a:pt x="218400" y="1288561"/>
                </a:lnTo>
                <a:lnTo>
                  <a:pt x="0" y="128856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781360" y="7467949"/>
            <a:ext cx="766847" cy="64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3"/>
              </a:lnSpc>
            </a:pPr>
            <a:r>
              <a:rPr lang="en-US" b="true" sz="4833" spc="-144">
                <a:solidFill>
                  <a:srgbClr val="F10F0F"/>
                </a:solidFill>
                <a:latin typeface="Inter 2 Bold"/>
                <a:ea typeface="Inter 2 Bold"/>
                <a:cs typeface="Inter 2 Bold"/>
                <a:sym typeface="Inter 2 Bold"/>
              </a:rPr>
              <a:t>35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2956189" y="7369285"/>
            <a:ext cx="229320" cy="1288562"/>
          </a:xfrm>
          <a:custGeom>
            <a:avLst/>
            <a:gdLst/>
            <a:ahLst/>
            <a:cxnLst/>
            <a:rect r="r" b="b" t="t" l="l"/>
            <a:pathLst>
              <a:path h="1288562" w="229320">
                <a:moveTo>
                  <a:pt x="0" y="0"/>
                </a:moveTo>
                <a:lnTo>
                  <a:pt x="229321" y="0"/>
                </a:lnTo>
                <a:lnTo>
                  <a:pt x="229321" y="1288561"/>
                </a:lnTo>
                <a:lnTo>
                  <a:pt x="0" y="12885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4378237" y="7470274"/>
            <a:ext cx="1643244" cy="65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0"/>
              </a:lnSpc>
            </a:pPr>
            <a:r>
              <a:rPr lang="en-US" b="true" sz="4970" spc="-149">
                <a:solidFill>
                  <a:srgbClr val="F10F0F"/>
                </a:solidFill>
                <a:latin typeface="Inter 2 Bold"/>
                <a:ea typeface="Inter 2 Bold"/>
                <a:cs typeface="Inter 2 Bold"/>
                <a:sym typeface="Inter 2 Bold"/>
              </a:rPr>
              <a:t>100%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104363" y="8205054"/>
            <a:ext cx="2209250" cy="3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2380" spc="-71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Offline Capable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865683" y="5646396"/>
            <a:ext cx="1515436" cy="3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2380" spc="-71">
                <a:solidFill>
                  <a:srgbClr val="100D0A"/>
                </a:solidFill>
                <a:latin typeface="Inter 2 Bold"/>
                <a:ea typeface="Inter 2 Bold"/>
                <a:cs typeface="Inter 2 Bold"/>
                <a:sym typeface="Inter 2 Bold"/>
              </a:rPr>
              <a:t>MediaPipe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52170" y="5646396"/>
            <a:ext cx="1862343" cy="3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2380" spc="-71">
                <a:solidFill>
                  <a:srgbClr val="100D0A"/>
                </a:solidFill>
                <a:latin typeface="Inter 2 Bold"/>
                <a:ea typeface="Inter 2 Bold"/>
                <a:cs typeface="Inter 2 Bold"/>
                <a:sym typeface="Inter 2 Bold"/>
              </a:rPr>
              <a:t>Frame Buffer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345925" y="5637554"/>
            <a:ext cx="1442403" cy="31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</a:pPr>
            <a:r>
              <a:rPr lang="en-US" b="true" sz="2326" spc="-69">
                <a:solidFill>
                  <a:srgbClr val="100D0A"/>
                </a:solidFill>
                <a:latin typeface="Inter 2 Bold"/>
                <a:ea typeface="Inter 2 Bold"/>
                <a:cs typeface="Inter 2 Bold"/>
                <a:sym typeface="Inter 2 Bold"/>
              </a:rPr>
              <a:t>TTS Audio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34812" y="8205054"/>
            <a:ext cx="1990150" cy="3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2380" spc="-71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Live Inference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361420" y="8205054"/>
            <a:ext cx="1588469" cy="3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2380" spc="-71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ISL Classes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404904" y="885920"/>
            <a:ext cx="657297" cy="19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440" spc="144">
                <a:solidFill>
                  <a:srgbClr val="100D0A"/>
                </a:solidFill>
                <a:latin typeface="Inter 2"/>
                <a:ea typeface="Inter 2"/>
                <a:cs typeface="Inter 2"/>
                <a:sym typeface="Inter 2"/>
              </a:rPr>
              <a:t>PAGE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957427" y="894976"/>
            <a:ext cx="380296" cy="21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b="true" sz="1687" spc="168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76951" y="-6160235"/>
            <a:ext cx="27974306" cy="14259706"/>
            <a:chOff x="0" y="0"/>
            <a:chExt cx="37299074" cy="19012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381" r="0" b="-703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22147" y="3943302"/>
            <a:ext cx="27974306" cy="14259706"/>
            <a:chOff x="0" y="0"/>
            <a:chExt cx="37299074" cy="190129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381" r="0" b="-703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59387" y="1013294"/>
            <a:ext cx="2358390" cy="20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"/>
              </a:lnSpc>
            </a:pPr>
            <a:r>
              <a:rPr lang="en-US" b="true" sz="1595" spc="478">
                <a:solidFill>
                  <a:srgbClr val="FF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9387" y="1344226"/>
            <a:ext cx="4536625" cy="83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6302" b="true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Full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08923" y="1344226"/>
            <a:ext cx="4749535" cy="83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6302" b="true">
                <a:solidFill>
                  <a:srgbClr val="FF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Architecture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33068" y="2190908"/>
            <a:ext cx="1381134" cy="205701"/>
          </a:xfrm>
          <a:custGeom>
            <a:avLst/>
            <a:gdLst/>
            <a:ahLst/>
            <a:cxnLst/>
            <a:rect r="r" b="b" t="t" l="l"/>
            <a:pathLst>
              <a:path h="205701" w="1381134">
                <a:moveTo>
                  <a:pt x="0" y="0"/>
                </a:moveTo>
                <a:lnTo>
                  <a:pt x="1381134" y="0"/>
                </a:lnTo>
                <a:lnTo>
                  <a:pt x="1381134" y="205700"/>
                </a:lnTo>
                <a:lnTo>
                  <a:pt x="0" y="20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59387" y="2449649"/>
            <a:ext cx="11497151" cy="29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287">
                <a:solidFill>
                  <a:srgbClr val="545454"/>
                </a:solidFill>
                <a:latin typeface="Arial Nova"/>
                <a:ea typeface="Arial Nova"/>
                <a:cs typeface="Arial Nova"/>
                <a:sym typeface="Arial Nova"/>
              </a:rPr>
              <a:t>A complete pipeline from training to real-time inference with a robust fallback strategy.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23518" y="3820510"/>
            <a:ext cx="8165098" cy="4435994"/>
          </a:xfrm>
          <a:custGeom>
            <a:avLst/>
            <a:gdLst/>
            <a:ahLst/>
            <a:cxnLst/>
            <a:rect r="r" b="b" t="t" l="l"/>
            <a:pathLst>
              <a:path h="4435994" w="8165098">
                <a:moveTo>
                  <a:pt x="0" y="0"/>
                </a:moveTo>
                <a:lnTo>
                  <a:pt x="8165098" y="0"/>
                </a:lnTo>
                <a:lnTo>
                  <a:pt x="8165098" y="4435995"/>
                </a:lnTo>
                <a:lnTo>
                  <a:pt x="0" y="44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33309" y="4025406"/>
            <a:ext cx="829828" cy="809338"/>
          </a:xfrm>
          <a:custGeom>
            <a:avLst/>
            <a:gdLst/>
            <a:ahLst/>
            <a:cxnLst/>
            <a:rect r="r" b="b" t="t" l="l"/>
            <a:pathLst>
              <a:path h="809338" w="829828">
                <a:moveTo>
                  <a:pt x="0" y="0"/>
                </a:moveTo>
                <a:lnTo>
                  <a:pt x="829828" y="0"/>
                </a:lnTo>
                <a:lnTo>
                  <a:pt x="829828" y="809339"/>
                </a:lnTo>
                <a:lnTo>
                  <a:pt x="0" y="8093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33309" y="5029396"/>
            <a:ext cx="829828" cy="809338"/>
          </a:xfrm>
          <a:custGeom>
            <a:avLst/>
            <a:gdLst/>
            <a:ahLst/>
            <a:cxnLst/>
            <a:rect r="r" b="b" t="t" l="l"/>
            <a:pathLst>
              <a:path h="809338" w="829828">
                <a:moveTo>
                  <a:pt x="0" y="0"/>
                </a:moveTo>
                <a:lnTo>
                  <a:pt x="829828" y="0"/>
                </a:lnTo>
                <a:lnTo>
                  <a:pt x="829828" y="809338"/>
                </a:lnTo>
                <a:lnTo>
                  <a:pt x="0" y="8093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38205" y="5029396"/>
            <a:ext cx="420036" cy="614687"/>
          </a:xfrm>
          <a:custGeom>
            <a:avLst/>
            <a:gdLst/>
            <a:ahLst/>
            <a:cxnLst/>
            <a:rect r="r" b="b" t="t" l="l"/>
            <a:pathLst>
              <a:path h="614687" w="420036">
                <a:moveTo>
                  <a:pt x="0" y="0"/>
                </a:moveTo>
                <a:lnTo>
                  <a:pt x="420036" y="0"/>
                </a:lnTo>
                <a:lnTo>
                  <a:pt x="420036" y="614687"/>
                </a:lnTo>
                <a:lnTo>
                  <a:pt x="0" y="6146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3309" y="5633838"/>
            <a:ext cx="829828" cy="809338"/>
          </a:xfrm>
          <a:custGeom>
            <a:avLst/>
            <a:gdLst/>
            <a:ahLst/>
            <a:cxnLst/>
            <a:rect r="r" b="b" t="t" l="l"/>
            <a:pathLst>
              <a:path h="809338" w="829828">
                <a:moveTo>
                  <a:pt x="0" y="0"/>
                </a:moveTo>
                <a:lnTo>
                  <a:pt x="829828" y="0"/>
                </a:lnTo>
                <a:lnTo>
                  <a:pt x="829828" y="809339"/>
                </a:lnTo>
                <a:lnTo>
                  <a:pt x="0" y="8093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938205" y="5828489"/>
            <a:ext cx="420036" cy="420036"/>
          </a:xfrm>
          <a:custGeom>
            <a:avLst/>
            <a:gdLst/>
            <a:ahLst/>
            <a:cxnLst/>
            <a:rect r="r" b="b" t="t" l="l"/>
            <a:pathLst>
              <a:path h="420036" w="420036">
                <a:moveTo>
                  <a:pt x="0" y="0"/>
                </a:moveTo>
                <a:lnTo>
                  <a:pt x="420036" y="0"/>
                </a:lnTo>
                <a:lnTo>
                  <a:pt x="420036" y="420037"/>
                </a:lnTo>
                <a:lnTo>
                  <a:pt x="0" y="4200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33309" y="6432932"/>
            <a:ext cx="829828" cy="819583"/>
          </a:xfrm>
          <a:custGeom>
            <a:avLst/>
            <a:gdLst/>
            <a:ahLst/>
            <a:cxnLst/>
            <a:rect r="r" b="b" t="t" l="l"/>
            <a:pathLst>
              <a:path h="819583" w="829828">
                <a:moveTo>
                  <a:pt x="0" y="0"/>
                </a:moveTo>
                <a:lnTo>
                  <a:pt x="829828" y="0"/>
                </a:lnTo>
                <a:lnTo>
                  <a:pt x="829828" y="819583"/>
                </a:lnTo>
                <a:lnTo>
                  <a:pt x="0" y="8195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938205" y="6637828"/>
            <a:ext cx="420036" cy="409792"/>
          </a:xfrm>
          <a:custGeom>
            <a:avLst/>
            <a:gdLst/>
            <a:ahLst/>
            <a:cxnLst/>
            <a:rect r="r" b="b" t="t" l="l"/>
            <a:pathLst>
              <a:path h="409792" w="420036">
                <a:moveTo>
                  <a:pt x="0" y="0"/>
                </a:moveTo>
                <a:lnTo>
                  <a:pt x="420036" y="0"/>
                </a:lnTo>
                <a:lnTo>
                  <a:pt x="420036" y="409791"/>
                </a:lnTo>
                <a:lnTo>
                  <a:pt x="0" y="4097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33309" y="7242270"/>
            <a:ext cx="829828" cy="809338"/>
          </a:xfrm>
          <a:custGeom>
            <a:avLst/>
            <a:gdLst/>
            <a:ahLst/>
            <a:cxnLst/>
            <a:rect r="r" b="b" t="t" l="l"/>
            <a:pathLst>
              <a:path h="809338" w="829828">
                <a:moveTo>
                  <a:pt x="0" y="0"/>
                </a:moveTo>
                <a:lnTo>
                  <a:pt x="829828" y="0"/>
                </a:lnTo>
                <a:lnTo>
                  <a:pt x="829828" y="809339"/>
                </a:lnTo>
                <a:lnTo>
                  <a:pt x="0" y="8093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38205" y="7242270"/>
            <a:ext cx="420036" cy="604443"/>
          </a:xfrm>
          <a:custGeom>
            <a:avLst/>
            <a:gdLst/>
            <a:ahLst/>
            <a:cxnLst/>
            <a:rect r="r" b="b" t="t" l="l"/>
            <a:pathLst>
              <a:path h="604443" w="420036">
                <a:moveTo>
                  <a:pt x="0" y="0"/>
                </a:moveTo>
                <a:lnTo>
                  <a:pt x="420036" y="0"/>
                </a:lnTo>
                <a:lnTo>
                  <a:pt x="420036" y="604443"/>
                </a:lnTo>
                <a:lnTo>
                  <a:pt x="0" y="60444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706073" y="4346211"/>
            <a:ext cx="2192549" cy="27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sz="2058" b="true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TRAINING PHASE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01397" y="4330651"/>
            <a:ext cx="2552264" cy="29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2130" b="true">
                <a:solidFill>
                  <a:srgbClr val="FF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(Google Colab GPU)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43107" y="5991137"/>
            <a:ext cx="4642038" cy="25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983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Upload to Google Drive (T4 GPU training)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259241" y="4025406"/>
            <a:ext cx="829828" cy="809338"/>
          </a:xfrm>
          <a:custGeom>
            <a:avLst/>
            <a:gdLst/>
            <a:ahLst/>
            <a:cxnLst/>
            <a:rect r="r" b="b" t="t" l="l"/>
            <a:pathLst>
              <a:path h="809338" w="829828">
                <a:moveTo>
                  <a:pt x="0" y="0"/>
                </a:moveTo>
                <a:lnTo>
                  <a:pt x="829828" y="0"/>
                </a:lnTo>
                <a:lnTo>
                  <a:pt x="829828" y="809339"/>
                </a:lnTo>
                <a:lnTo>
                  <a:pt x="0" y="8093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339906" y="3820510"/>
            <a:ext cx="7691522" cy="4393706"/>
          </a:xfrm>
          <a:custGeom>
            <a:avLst/>
            <a:gdLst/>
            <a:ahLst/>
            <a:cxnLst/>
            <a:rect r="r" b="b" t="t" l="l"/>
            <a:pathLst>
              <a:path h="4393706" w="7691522">
                <a:moveTo>
                  <a:pt x="0" y="0"/>
                </a:moveTo>
                <a:lnTo>
                  <a:pt x="7691522" y="0"/>
                </a:lnTo>
                <a:lnTo>
                  <a:pt x="7691522" y="4393706"/>
                </a:lnTo>
                <a:lnTo>
                  <a:pt x="0" y="43937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45791" y="4023453"/>
            <a:ext cx="821917" cy="801623"/>
          </a:xfrm>
          <a:custGeom>
            <a:avLst/>
            <a:gdLst/>
            <a:ahLst/>
            <a:cxnLst/>
            <a:rect r="r" b="b" t="t" l="l"/>
            <a:pathLst>
              <a:path h="801623" w="821917">
                <a:moveTo>
                  <a:pt x="0" y="0"/>
                </a:moveTo>
                <a:lnTo>
                  <a:pt x="821917" y="0"/>
                </a:lnTo>
                <a:lnTo>
                  <a:pt x="821917" y="801623"/>
                </a:lnTo>
                <a:lnTo>
                  <a:pt x="0" y="80162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944512" y="4328793"/>
            <a:ext cx="390218" cy="34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6"/>
              </a:lnSpc>
            </a:pPr>
            <a:r>
              <a:rPr lang="en-US" b="true" sz="2526">
                <a:solidFill>
                  <a:srgbClr val="FF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02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745791" y="4814929"/>
            <a:ext cx="821917" cy="811770"/>
          </a:xfrm>
          <a:custGeom>
            <a:avLst/>
            <a:gdLst/>
            <a:ahLst/>
            <a:cxnLst/>
            <a:rect r="r" b="b" t="t" l="l"/>
            <a:pathLst>
              <a:path h="811770" w="821917">
                <a:moveTo>
                  <a:pt x="0" y="0"/>
                </a:moveTo>
                <a:lnTo>
                  <a:pt x="821917" y="0"/>
                </a:lnTo>
                <a:lnTo>
                  <a:pt x="821917" y="811770"/>
                </a:lnTo>
                <a:lnTo>
                  <a:pt x="0" y="8117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948733" y="5017871"/>
            <a:ext cx="416032" cy="405885"/>
          </a:xfrm>
          <a:custGeom>
            <a:avLst/>
            <a:gdLst/>
            <a:ahLst/>
            <a:cxnLst/>
            <a:rect r="r" b="b" t="t" l="l"/>
            <a:pathLst>
              <a:path h="405885" w="416032">
                <a:moveTo>
                  <a:pt x="0" y="0"/>
                </a:moveTo>
                <a:lnTo>
                  <a:pt x="416032" y="0"/>
                </a:lnTo>
                <a:lnTo>
                  <a:pt x="416032" y="405885"/>
                </a:lnTo>
                <a:lnTo>
                  <a:pt x="0" y="40588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745791" y="5413609"/>
            <a:ext cx="821917" cy="811770"/>
          </a:xfrm>
          <a:custGeom>
            <a:avLst/>
            <a:gdLst/>
            <a:ahLst/>
            <a:cxnLst/>
            <a:rect r="r" b="b" t="t" l="l"/>
            <a:pathLst>
              <a:path h="811770" w="821917">
                <a:moveTo>
                  <a:pt x="0" y="0"/>
                </a:moveTo>
                <a:lnTo>
                  <a:pt x="821917" y="0"/>
                </a:lnTo>
                <a:lnTo>
                  <a:pt x="821917" y="811770"/>
                </a:lnTo>
                <a:lnTo>
                  <a:pt x="0" y="81177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948733" y="5616552"/>
            <a:ext cx="618975" cy="405885"/>
          </a:xfrm>
          <a:custGeom>
            <a:avLst/>
            <a:gdLst/>
            <a:ahLst/>
            <a:cxnLst/>
            <a:rect r="r" b="b" t="t" l="l"/>
            <a:pathLst>
              <a:path h="405885" w="618975">
                <a:moveTo>
                  <a:pt x="0" y="0"/>
                </a:moveTo>
                <a:lnTo>
                  <a:pt x="618975" y="0"/>
                </a:lnTo>
                <a:lnTo>
                  <a:pt x="618975" y="405885"/>
                </a:lnTo>
                <a:lnTo>
                  <a:pt x="0" y="40588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745791" y="6012290"/>
            <a:ext cx="821917" cy="801623"/>
          </a:xfrm>
          <a:custGeom>
            <a:avLst/>
            <a:gdLst/>
            <a:ahLst/>
            <a:cxnLst/>
            <a:rect r="r" b="b" t="t" l="l"/>
            <a:pathLst>
              <a:path h="801623" w="821917">
                <a:moveTo>
                  <a:pt x="0" y="0"/>
                </a:moveTo>
                <a:lnTo>
                  <a:pt x="821917" y="0"/>
                </a:lnTo>
                <a:lnTo>
                  <a:pt x="821917" y="801623"/>
                </a:lnTo>
                <a:lnTo>
                  <a:pt x="0" y="80162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948733" y="6215232"/>
            <a:ext cx="618975" cy="598680"/>
          </a:xfrm>
          <a:custGeom>
            <a:avLst/>
            <a:gdLst/>
            <a:ahLst/>
            <a:cxnLst/>
            <a:rect r="r" b="b" t="t" l="l"/>
            <a:pathLst>
              <a:path h="598680" w="618975">
                <a:moveTo>
                  <a:pt x="0" y="0"/>
                </a:moveTo>
                <a:lnTo>
                  <a:pt x="618975" y="0"/>
                </a:lnTo>
                <a:lnTo>
                  <a:pt x="618975" y="598681"/>
                </a:lnTo>
                <a:lnTo>
                  <a:pt x="0" y="59868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745791" y="6803766"/>
            <a:ext cx="821917" cy="608828"/>
          </a:xfrm>
          <a:custGeom>
            <a:avLst/>
            <a:gdLst/>
            <a:ahLst/>
            <a:cxnLst/>
            <a:rect r="r" b="b" t="t" l="l"/>
            <a:pathLst>
              <a:path h="608828" w="821917">
                <a:moveTo>
                  <a:pt x="0" y="0"/>
                </a:moveTo>
                <a:lnTo>
                  <a:pt x="821917" y="0"/>
                </a:lnTo>
                <a:lnTo>
                  <a:pt x="821917" y="608827"/>
                </a:lnTo>
                <a:lnTo>
                  <a:pt x="0" y="60882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948733" y="6803766"/>
            <a:ext cx="618975" cy="608828"/>
          </a:xfrm>
          <a:custGeom>
            <a:avLst/>
            <a:gdLst/>
            <a:ahLst/>
            <a:cxnLst/>
            <a:rect r="r" b="b" t="t" l="l"/>
            <a:pathLst>
              <a:path h="608828" w="618975">
                <a:moveTo>
                  <a:pt x="0" y="0"/>
                </a:moveTo>
                <a:lnTo>
                  <a:pt x="618975" y="0"/>
                </a:lnTo>
                <a:lnTo>
                  <a:pt x="618975" y="608827"/>
                </a:lnTo>
                <a:lnTo>
                  <a:pt x="0" y="60882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745791" y="7402446"/>
            <a:ext cx="821917" cy="608828"/>
          </a:xfrm>
          <a:custGeom>
            <a:avLst/>
            <a:gdLst/>
            <a:ahLst/>
            <a:cxnLst/>
            <a:rect r="r" b="b" t="t" l="l"/>
            <a:pathLst>
              <a:path h="608828" w="821917">
                <a:moveTo>
                  <a:pt x="0" y="0"/>
                </a:moveTo>
                <a:lnTo>
                  <a:pt x="821917" y="0"/>
                </a:lnTo>
                <a:lnTo>
                  <a:pt x="821917" y="608828"/>
                </a:lnTo>
                <a:lnTo>
                  <a:pt x="0" y="60882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948733" y="7402446"/>
            <a:ext cx="618975" cy="608828"/>
          </a:xfrm>
          <a:custGeom>
            <a:avLst/>
            <a:gdLst/>
            <a:ahLst/>
            <a:cxnLst/>
            <a:rect r="r" b="b" t="t" l="l"/>
            <a:pathLst>
              <a:path h="608828" w="618975">
                <a:moveTo>
                  <a:pt x="0" y="0"/>
                </a:moveTo>
                <a:lnTo>
                  <a:pt x="618975" y="0"/>
                </a:lnTo>
                <a:lnTo>
                  <a:pt x="618975" y="608828"/>
                </a:lnTo>
                <a:lnTo>
                  <a:pt x="0" y="60882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775846" y="4347841"/>
            <a:ext cx="2273443" cy="25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43" b="true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INFERENCE PHASE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51085" y="4325759"/>
            <a:ext cx="2035920" cy="28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2133" b="true">
                <a:solidFill>
                  <a:srgbClr val="FF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(Local Machine)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826744" y="5136474"/>
            <a:ext cx="3308369" cy="24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897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Webcam → MediaPipe Holistic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26744" y="5712999"/>
            <a:ext cx="2782423" cy="25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965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Rolling deque(60 frames)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26744" y="6343197"/>
            <a:ext cx="2748491" cy="25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965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PyTorch Model Inference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826744" y="6954012"/>
            <a:ext cx="3036913" cy="25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987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Majority voting + Cooldown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826744" y="7556135"/>
            <a:ext cx="2612763" cy="25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942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pyttsx3 TTS → Speaker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18125" y="4355393"/>
            <a:ext cx="342586" cy="3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9"/>
              </a:lnSpc>
            </a:pPr>
            <a:r>
              <a:rPr lang="en-US" b="true" sz="2369">
                <a:solidFill>
                  <a:srgbClr val="FF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43107" y="5255105"/>
            <a:ext cx="5104528" cy="24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893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Dataset collection → 60-frame .npY sequences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843107" y="6713990"/>
            <a:ext cx="5601278" cy="268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</a:pPr>
            <a:r>
              <a:rPr lang="en-US" sz="200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BILSTM+Attention → </a:t>
            </a:r>
            <a:r>
              <a:rPr lang="en-US" sz="2006" b="true">
                <a:solidFill>
                  <a:srgbClr val="FF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unified_sign_model.pt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843107" y="7456297"/>
            <a:ext cx="4299452" cy="268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</a:pPr>
            <a:r>
              <a:rPr lang="en-US" sz="200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Download model (~3MB) for local use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678705" y="1038905"/>
            <a:ext cx="622353" cy="18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sz="1438" spc="143">
                <a:solidFill>
                  <a:srgbClr val="545454"/>
                </a:solidFill>
                <a:latin typeface="Arial Nova"/>
                <a:ea typeface="Arial Nova"/>
                <a:cs typeface="Arial Nova"/>
                <a:sym typeface="Arial Nova"/>
              </a:rPr>
              <a:t>PAGE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336451" y="1038905"/>
            <a:ext cx="294799" cy="18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8"/>
              </a:lnSpc>
            </a:pPr>
            <a:r>
              <a:rPr lang="en-US" b="true" sz="1438" spc="143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695516" y="-7205348"/>
            <a:ext cx="27974306" cy="14259706"/>
            <a:chOff x="0" y="0"/>
            <a:chExt cx="37299074" cy="19012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381" r="0" b="-703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22147" y="3943302"/>
            <a:ext cx="27974306" cy="14259706"/>
            <a:chOff x="0" y="0"/>
            <a:chExt cx="37299074" cy="190129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381" r="0" b="-703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7971" y="714157"/>
            <a:ext cx="2910363" cy="24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4"/>
              </a:lnSpc>
            </a:pPr>
            <a:r>
              <a:rPr lang="en-US" b="true" sz="1824" spc="36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 &amp;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7971" y="1064472"/>
            <a:ext cx="8246029" cy="92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3"/>
              </a:lnSpc>
            </a:pPr>
            <a:r>
              <a:rPr lang="en-US" sz="6913" spc="-138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Dataset Collection &amp;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7971" y="1934001"/>
            <a:ext cx="8263994" cy="92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3"/>
              </a:lnSpc>
            </a:pPr>
            <a:r>
              <a:rPr lang="en-US" sz="6913" spc="-138" b="true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Feature Engineering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5338" y="2842977"/>
            <a:ext cx="1515008" cy="440534"/>
          </a:xfrm>
          <a:custGeom>
            <a:avLst/>
            <a:gdLst/>
            <a:ahLst/>
            <a:cxnLst/>
            <a:rect r="r" b="b" t="t" l="l"/>
            <a:pathLst>
              <a:path h="440534" w="1515008">
                <a:moveTo>
                  <a:pt x="0" y="0"/>
                </a:moveTo>
                <a:lnTo>
                  <a:pt x="1515008" y="0"/>
                </a:lnTo>
                <a:lnTo>
                  <a:pt x="1515008" y="440535"/>
                </a:lnTo>
                <a:lnTo>
                  <a:pt x="0" y="440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5338" y="3272767"/>
            <a:ext cx="8778452" cy="6328651"/>
          </a:xfrm>
          <a:custGeom>
            <a:avLst/>
            <a:gdLst/>
            <a:ahLst/>
            <a:cxnLst/>
            <a:rect r="r" b="b" t="t" l="l"/>
            <a:pathLst>
              <a:path h="6328651" w="8778452">
                <a:moveTo>
                  <a:pt x="0" y="0"/>
                </a:moveTo>
                <a:lnTo>
                  <a:pt x="8778452" y="0"/>
                </a:lnTo>
                <a:lnTo>
                  <a:pt x="8778452" y="6328651"/>
                </a:lnTo>
                <a:lnTo>
                  <a:pt x="0" y="6328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0232" y="3691812"/>
            <a:ext cx="1085219" cy="848834"/>
          </a:xfrm>
          <a:custGeom>
            <a:avLst/>
            <a:gdLst/>
            <a:ahLst/>
            <a:cxnLst/>
            <a:rect r="r" b="b" t="t" l="l"/>
            <a:pathLst>
              <a:path h="848834" w="1085219">
                <a:moveTo>
                  <a:pt x="0" y="0"/>
                </a:moveTo>
                <a:lnTo>
                  <a:pt x="1085219" y="0"/>
                </a:lnTo>
                <a:lnTo>
                  <a:pt x="1085219" y="848834"/>
                </a:lnTo>
                <a:lnTo>
                  <a:pt x="0" y="848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25127" y="5163841"/>
            <a:ext cx="8133768" cy="429790"/>
          </a:xfrm>
          <a:custGeom>
            <a:avLst/>
            <a:gdLst/>
            <a:ahLst/>
            <a:cxnLst/>
            <a:rect r="r" b="b" t="t" l="l"/>
            <a:pathLst>
              <a:path h="429790" w="8133768">
                <a:moveTo>
                  <a:pt x="0" y="0"/>
                </a:moveTo>
                <a:lnTo>
                  <a:pt x="8133768" y="0"/>
                </a:lnTo>
                <a:lnTo>
                  <a:pt x="8133768" y="429790"/>
                </a:lnTo>
                <a:lnTo>
                  <a:pt x="0" y="4297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5127" y="6001931"/>
            <a:ext cx="8133768" cy="440534"/>
          </a:xfrm>
          <a:custGeom>
            <a:avLst/>
            <a:gdLst/>
            <a:ahLst/>
            <a:cxnLst/>
            <a:rect r="r" b="b" t="t" l="l"/>
            <a:pathLst>
              <a:path h="440534" w="8133768">
                <a:moveTo>
                  <a:pt x="0" y="0"/>
                </a:moveTo>
                <a:lnTo>
                  <a:pt x="8133768" y="0"/>
                </a:lnTo>
                <a:lnTo>
                  <a:pt x="8133768" y="440534"/>
                </a:lnTo>
                <a:lnTo>
                  <a:pt x="0" y="4405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25127" y="7054915"/>
            <a:ext cx="8133768" cy="225640"/>
          </a:xfrm>
          <a:custGeom>
            <a:avLst/>
            <a:gdLst/>
            <a:ahLst/>
            <a:cxnLst/>
            <a:rect r="r" b="b" t="t" l="l"/>
            <a:pathLst>
              <a:path h="225640" w="8133768">
                <a:moveTo>
                  <a:pt x="0" y="0"/>
                </a:moveTo>
                <a:lnTo>
                  <a:pt x="8133768" y="0"/>
                </a:lnTo>
                <a:lnTo>
                  <a:pt x="8133768" y="225640"/>
                </a:lnTo>
                <a:lnTo>
                  <a:pt x="0" y="225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10232" y="7484705"/>
            <a:ext cx="8348662" cy="1686924"/>
          </a:xfrm>
          <a:custGeom>
            <a:avLst/>
            <a:gdLst/>
            <a:ahLst/>
            <a:cxnLst/>
            <a:rect r="r" b="b" t="t" l="l"/>
            <a:pathLst>
              <a:path h="1686924" w="8348662">
                <a:moveTo>
                  <a:pt x="0" y="0"/>
                </a:moveTo>
                <a:lnTo>
                  <a:pt x="8348663" y="0"/>
                </a:lnTo>
                <a:lnTo>
                  <a:pt x="8348663" y="1686924"/>
                </a:lnTo>
                <a:lnTo>
                  <a:pt x="0" y="16869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25127" y="7903750"/>
            <a:ext cx="1085219" cy="1063729"/>
          </a:xfrm>
          <a:custGeom>
            <a:avLst/>
            <a:gdLst/>
            <a:ahLst/>
            <a:cxnLst/>
            <a:rect r="r" b="b" t="t" l="l"/>
            <a:pathLst>
              <a:path h="1063729" w="1085219">
                <a:moveTo>
                  <a:pt x="0" y="0"/>
                </a:moveTo>
                <a:lnTo>
                  <a:pt x="1085219" y="0"/>
                </a:lnTo>
                <a:lnTo>
                  <a:pt x="1085219" y="1063729"/>
                </a:lnTo>
                <a:lnTo>
                  <a:pt x="0" y="10637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40022" y="7903750"/>
            <a:ext cx="655429" cy="848834"/>
          </a:xfrm>
          <a:custGeom>
            <a:avLst/>
            <a:gdLst/>
            <a:ahLst/>
            <a:cxnLst/>
            <a:rect r="r" b="b" t="t" l="l"/>
            <a:pathLst>
              <a:path h="848834" w="655429">
                <a:moveTo>
                  <a:pt x="0" y="0"/>
                </a:moveTo>
                <a:lnTo>
                  <a:pt x="655429" y="0"/>
                </a:lnTo>
                <a:lnTo>
                  <a:pt x="655429" y="848834"/>
                </a:lnTo>
                <a:lnTo>
                  <a:pt x="0" y="8488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77940" y="3272767"/>
            <a:ext cx="7714723" cy="6328651"/>
          </a:xfrm>
          <a:custGeom>
            <a:avLst/>
            <a:gdLst/>
            <a:ahLst/>
            <a:cxnLst/>
            <a:rect r="r" b="b" t="t" l="l"/>
            <a:pathLst>
              <a:path h="6328651" w="7714723">
                <a:moveTo>
                  <a:pt x="0" y="0"/>
                </a:moveTo>
                <a:lnTo>
                  <a:pt x="7714722" y="0"/>
                </a:lnTo>
                <a:lnTo>
                  <a:pt x="7714722" y="6328651"/>
                </a:lnTo>
                <a:lnTo>
                  <a:pt x="0" y="63286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992834" y="3691812"/>
            <a:ext cx="1085219" cy="848834"/>
          </a:xfrm>
          <a:custGeom>
            <a:avLst/>
            <a:gdLst/>
            <a:ahLst/>
            <a:cxnLst/>
            <a:rect r="r" b="b" t="t" l="l"/>
            <a:pathLst>
              <a:path h="848834" w="1085219">
                <a:moveTo>
                  <a:pt x="0" y="0"/>
                </a:moveTo>
                <a:lnTo>
                  <a:pt x="1085219" y="0"/>
                </a:lnTo>
                <a:lnTo>
                  <a:pt x="1085219" y="848834"/>
                </a:lnTo>
                <a:lnTo>
                  <a:pt x="0" y="84883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968480" y="2366046"/>
            <a:ext cx="655429" cy="440534"/>
          </a:xfrm>
          <a:custGeom>
            <a:avLst/>
            <a:gdLst/>
            <a:ahLst/>
            <a:cxnLst/>
            <a:rect r="r" b="b" t="t" l="l"/>
            <a:pathLst>
              <a:path h="440534" w="655429">
                <a:moveTo>
                  <a:pt x="0" y="0"/>
                </a:moveTo>
                <a:lnTo>
                  <a:pt x="655430" y="0"/>
                </a:lnTo>
                <a:lnTo>
                  <a:pt x="655430" y="440534"/>
                </a:lnTo>
                <a:lnTo>
                  <a:pt x="0" y="4405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992834" y="4529902"/>
            <a:ext cx="3642467" cy="2116714"/>
          </a:xfrm>
          <a:custGeom>
            <a:avLst/>
            <a:gdLst/>
            <a:ahLst/>
            <a:cxnLst/>
            <a:rect r="r" b="b" t="t" l="l"/>
            <a:pathLst>
              <a:path h="2116714" w="3642467">
                <a:moveTo>
                  <a:pt x="0" y="0"/>
                </a:moveTo>
                <a:lnTo>
                  <a:pt x="3642467" y="0"/>
                </a:lnTo>
                <a:lnTo>
                  <a:pt x="3642467" y="2116713"/>
                </a:lnTo>
                <a:lnTo>
                  <a:pt x="0" y="211671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422624" y="5163841"/>
            <a:ext cx="870324" cy="848834"/>
          </a:xfrm>
          <a:custGeom>
            <a:avLst/>
            <a:gdLst/>
            <a:ahLst/>
            <a:cxnLst/>
            <a:rect r="r" b="b" t="t" l="l"/>
            <a:pathLst>
              <a:path h="848834" w="870324">
                <a:moveTo>
                  <a:pt x="0" y="0"/>
                </a:moveTo>
                <a:lnTo>
                  <a:pt x="870324" y="0"/>
                </a:lnTo>
                <a:lnTo>
                  <a:pt x="870324" y="848835"/>
                </a:lnTo>
                <a:lnTo>
                  <a:pt x="0" y="84883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635301" y="4529902"/>
            <a:ext cx="3642467" cy="2116714"/>
          </a:xfrm>
          <a:custGeom>
            <a:avLst/>
            <a:gdLst/>
            <a:ahLst/>
            <a:cxnLst/>
            <a:rect r="r" b="b" t="t" l="l"/>
            <a:pathLst>
              <a:path h="2116714" w="3642467">
                <a:moveTo>
                  <a:pt x="0" y="0"/>
                </a:moveTo>
                <a:lnTo>
                  <a:pt x="3642467" y="0"/>
                </a:lnTo>
                <a:lnTo>
                  <a:pt x="3642467" y="2116713"/>
                </a:lnTo>
                <a:lnTo>
                  <a:pt x="0" y="21167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054346" y="5163841"/>
            <a:ext cx="870324" cy="848834"/>
          </a:xfrm>
          <a:custGeom>
            <a:avLst/>
            <a:gdLst/>
            <a:ahLst/>
            <a:cxnLst/>
            <a:rect r="r" b="b" t="t" l="l"/>
            <a:pathLst>
              <a:path h="848834" w="870324">
                <a:moveTo>
                  <a:pt x="0" y="0"/>
                </a:moveTo>
                <a:lnTo>
                  <a:pt x="870324" y="0"/>
                </a:lnTo>
                <a:lnTo>
                  <a:pt x="870324" y="848835"/>
                </a:lnTo>
                <a:lnTo>
                  <a:pt x="0" y="84883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992834" y="6635870"/>
            <a:ext cx="3642467" cy="2116714"/>
          </a:xfrm>
          <a:custGeom>
            <a:avLst/>
            <a:gdLst/>
            <a:ahLst/>
            <a:cxnLst/>
            <a:rect r="r" b="b" t="t" l="l"/>
            <a:pathLst>
              <a:path h="2116714" w="3642467">
                <a:moveTo>
                  <a:pt x="0" y="0"/>
                </a:moveTo>
                <a:lnTo>
                  <a:pt x="3642467" y="0"/>
                </a:lnTo>
                <a:lnTo>
                  <a:pt x="3642467" y="2116714"/>
                </a:lnTo>
                <a:lnTo>
                  <a:pt x="0" y="21167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422624" y="7269810"/>
            <a:ext cx="870324" cy="644684"/>
          </a:xfrm>
          <a:custGeom>
            <a:avLst/>
            <a:gdLst/>
            <a:ahLst/>
            <a:cxnLst/>
            <a:rect r="r" b="b" t="t" l="l"/>
            <a:pathLst>
              <a:path h="644684" w="870324">
                <a:moveTo>
                  <a:pt x="0" y="0"/>
                </a:moveTo>
                <a:lnTo>
                  <a:pt x="870324" y="0"/>
                </a:lnTo>
                <a:lnTo>
                  <a:pt x="870324" y="644684"/>
                </a:lnTo>
                <a:lnTo>
                  <a:pt x="0" y="64468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635301" y="6635870"/>
            <a:ext cx="3642467" cy="2116714"/>
          </a:xfrm>
          <a:custGeom>
            <a:avLst/>
            <a:gdLst/>
            <a:ahLst/>
            <a:cxnLst/>
            <a:rect r="r" b="b" t="t" l="l"/>
            <a:pathLst>
              <a:path h="2116714" w="3642467">
                <a:moveTo>
                  <a:pt x="0" y="0"/>
                </a:moveTo>
                <a:lnTo>
                  <a:pt x="3642467" y="0"/>
                </a:lnTo>
                <a:lnTo>
                  <a:pt x="3642467" y="2116714"/>
                </a:lnTo>
                <a:lnTo>
                  <a:pt x="0" y="211671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054346" y="7269810"/>
            <a:ext cx="870324" cy="848834"/>
          </a:xfrm>
          <a:custGeom>
            <a:avLst/>
            <a:gdLst/>
            <a:ahLst/>
            <a:cxnLst/>
            <a:rect r="r" b="b" t="t" l="l"/>
            <a:pathLst>
              <a:path h="848834" w="870324">
                <a:moveTo>
                  <a:pt x="0" y="0"/>
                </a:moveTo>
                <a:lnTo>
                  <a:pt x="870324" y="0"/>
                </a:lnTo>
                <a:lnTo>
                  <a:pt x="870324" y="848834"/>
                </a:lnTo>
                <a:lnTo>
                  <a:pt x="0" y="84883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20462" y="3943302"/>
            <a:ext cx="347274" cy="347274"/>
          </a:xfrm>
          <a:custGeom>
            <a:avLst/>
            <a:gdLst/>
            <a:ahLst/>
            <a:cxnLst/>
            <a:rect r="r" b="b" t="t" l="l"/>
            <a:pathLst>
              <a:path h="347274" w="347274">
                <a:moveTo>
                  <a:pt x="0" y="0"/>
                </a:moveTo>
                <a:lnTo>
                  <a:pt x="347274" y="0"/>
                </a:lnTo>
                <a:lnTo>
                  <a:pt x="347274" y="347274"/>
                </a:lnTo>
                <a:lnTo>
                  <a:pt x="0" y="34727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271583" y="3870249"/>
            <a:ext cx="527722" cy="659652"/>
          </a:xfrm>
          <a:custGeom>
            <a:avLst/>
            <a:gdLst/>
            <a:ahLst/>
            <a:cxnLst/>
            <a:rect r="r" b="b" t="t" l="l"/>
            <a:pathLst>
              <a:path h="659652" w="527722">
                <a:moveTo>
                  <a:pt x="0" y="0"/>
                </a:moveTo>
                <a:lnTo>
                  <a:pt x="527722" y="0"/>
                </a:lnTo>
                <a:lnTo>
                  <a:pt x="527722" y="659653"/>
                </a:lnTo>
                <a:lnTo>
                  <a:pt x="0" y="65965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227396" y="3926863"/>
            <a:ext cx="4796710" cy="34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2548" b="true">
                <a:solidFill>
                  <a:srgbClr val="000000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MediaPipe Holistic Landmarks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9310" y="4875296"/>
            <a:ext cx="3413389" cy="28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210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Left Hand (21 keypoints × 3)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9310" y="6715461"/>
            <a:ext cx="3485250" cy="28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210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Upper Pose (4 keypoints × 3)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46383" y="6716368"/>
            <a:ext cx="323374" cy="28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3"/>
              </a:lnSpc>
            </a:pPr>
            <a:r>
              <a:rPr lang="en-US" sz="2033" b="true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12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78909" y="8029865"/>
            <a:ext cx="3628971" cy="28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2104" b="true">
                <a:solidFill>
                  <a:srgbClr val="000000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Total: 138 features / frame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74068" y="3929404"/>
            <a:ext cx="2371407" cy="35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675" b="true">
                <a:solidFill>
                  <a:srgbClr val="000000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Dataset Specs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87268" y="5045264"/>
            <a:ext cx="682678" cy="556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7"/>
              </a:lnSpc>
            </a:pPr>
            <a:r>
              <a:rPr lang="en-US" sz="4187" b="true">
                <a:solidFill>
                  <a:srgbClr val="FF0000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05233" y="5787438"/>
            <a:ext cx="1113843" cy="21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sz="1660">
                <a:solidFill>
                  <a:srgbClr val="6B6B6B"/>
                </a:solidFill>
                <a:latin typeface="Aileron"/>
                <a:ea typeface="Aileron"/>
                <a:cs typeface="Aileron"/>
                <a:sym typeface="Aileron"/>
              </a:rPr>
              <a:t>ISL Classes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216239" y="5057981"/>
            <a:ext cx="988086" cy="5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4031" b="true">
                <a:solidFill>
                  <a:srgbClr val="FF0000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30+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216239" y="5787438"/>
            <a:ext cx="1670764" cy="21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sz="1660">
                <a:solidFill>
                  <a:srgbClr val="6B6B6B"/>
                </a:solidFill>
                <a:latin typeface="Aileron"/>
                <a:ea typeface="Aileron"/>
                <a:cs typeface="Aileron"/>
                <a:sym typeface="Aileron"/>
              </a:rPr>
              <a:t>Sequences/Class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587268" y="7188753"/>
            <a:ext cx="682678" cy="556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7"/>
              </a:lnSpc>
            </a:pPr>
            <a:r>
              <a:rPr lang="en-US" sz="4187" b="true">
                <a:solidFill>
                  <a:srgbClr val="FF0000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60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180309" y="7172278"/>
            <a:ext cx="988086" cy="58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1"/>
              </a:lnSpc>
            </a:pPr>
            <a:r>
              <a:rPr lang="en-US" sz="4311" b="true">
                <a:solidFill>
                  <a:srgbClr val="FF0000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~2s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216239" y="7920817"/>
            <a:ext cx="1670764" cy="21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sz="1660">
                <a:solidFill>
                  <a:srgbClr val="6B6B6B"/>
                </a:solidFill>
                <a:latin typeface="Aileron"/>
                <a:ea typeface="Aileron"/>
                <a:cs typeface="Aileron"/>
                <a:sym typeface="Aileron"/>
              </a:rPr>
              <a:t>Window Duration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330082" y="714157"/>
            <a:ext cx="1095877" cy="24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4"/>
              </a:lnSpc>
            </a:pPr>
            <a:r>
              <a:rPr lang="en-US" sz="1824" spc="91">
                <a:solidFill>
                  <a:srgbClr val="6B6B6B"/>
                </a:solidFill>
                <a:latin typeface="Aileron"/>
                <a:ea typeface="Aileron"/>
                <a:cs typeface="Aileron"/>
                <a:sym typeface="Aileron"/>
              </a:rPr>
              <a:t>PAGE </a:t>
            </a:r>
            <a:r>
              <a:rPr lang="en-US" sz="1824" spc="9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892487" y="4875296"/>
            <a:ext cx="359304" cy="28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4"/>
              </a:lnSpc>
            </a:pPr>
            <a:r>
              <a:rPr lang="en-US" sz="2104" b="true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63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9310" y="5795379"/>
            <a:ext cx="3557110" cy="28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210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Right Hand (21 keypoints × 3)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892487" y="5795379"/>
            <a:ext cx="359304" cy="28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4"/>
              </a:lnSpc>
            </a:pPr>
            <a:r>
              <a:rPr lang="en-US" sz="2104" b="true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63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78909" y="8474741"/>
            <a:ext cx="6036309" cy="28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210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Sequence: 60 frames × 138 = 8,280 values/gesture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587268" y="7920817"/>
            <a:ext cx="1796520" cy="21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sz="1660">
                <a:solidFill>
                  <a:srgbClr val="6B6B6B"/>
                </a:solidFill>
                <a:latin typeface="Aileron"/>
                <a:ea typeface="Aileron"/>
                <a:cs typeface="Aileron"/>
                <a:sym typeface="Aileron"/>
              </a:rPr>
              <a:t>Frames/Sequence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695516" y="-7205348"/>
            <a:ext cx="27974306" cy="14259706"/>
            <a:chOff x="0" y="0"/>
            <a:chExt cx="37299074" cy="19012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381" r="0" b="-703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22147" y="3943302"/>
            <a:ext cx="27974306" cy="14259706"/>
            <a:chOff x="0" y="0"/>
            <a:chExt cx="37299074" cy="190129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381" r="0" b="-703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56136" y="854319"/>
            <a:ext cx="3256432" cy="18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b="true" sz="1474" spc="294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LEARNING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2564" y="1218139"/>
            <a:ext cx="7520007" cy="65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6"/>
              </a:lnSpc>
            </a:pPr>
            <a:r>
              <a:rPr lang="en-US" sz="4946" spc="-14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BiLSTM + Self-Attention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43454" y="1781182"/>
            <a:ext cx="1415543" cy="200786"/>
          </a:xfrm>
          <a:custGeom>
            <a:avLst/>
            <a:gdLst/>
            <a:ahLst/>
            <a:cxnLst/>
            <a:rect r="r" b="b" t="t" l="l"/>
            <a:pathLst>
              <a:path h="200786" w="1415543">
                <a:moveTo>
                  <a:pt x="0" y="0"/>
                </a:moveTo>
                <a:lnTo>
                  <a:pt x="1415543" y="0"/>
                </a:lnTo>
                <a:lnTo>
                  <a:pt x="1415543" y="200786"/>
                </a:lnTo>
                <a:lnTo>
                  <a:pt x="0" y="2007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56136" y="2096700"/>
            <a:ext cx="9870009" cy="3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2110" spc="-63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From gesture sequences to class probabilities using a deep neural network.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42668" y="2955781"/>
            <a:ext cx="3011794" cy="4738555"/>
          </a:xfrm>
          <a:custGeom>
            <a:avLst/>
            <a:gdLst/>
            <a:ahLst/>
            <a:cxnLst/>
            <a:rect r="r" b="b" t="t" l="l"/>
            <a:pathLst>
              <a:path h="4738555" w="3011794">
                <a:moveTo>
                  <a:pt x="0" y="0"/>
                </a:moveTo>
                <a:lnTo>
                  <a:pt x="3011794" y="0"/>
                </a:lnTo>
                <a:lnTo>
                  <a:pt x="3011794" y="4738556"/>
                </a:lnTo>
                <a:lnTo>
                  <a:pt x="0" y="4738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46599" y="2765034"/>
            <a:ext cx="803145" cy="993892"/>
          </a:xfrm>
          <a:custGeom>
            <a:avLst/>
            <a:gdLst/>
            <a:ahLst/>
            <a:cxnLst/>
            <a:rect r="r" b="b" t="t" l="l"/>
            <a:pathLst>
              <a:path h="993892" w="803145">
                <a:moveTo>
                  <a:pt x="0" y="0"/>
                </a:moveTo>
                <a:lnTo>
                  <a:pt x="803145" y="0"/>
                </a:lnTo>
                <a:lnTo>
                  <a:pt x="803145" y="993892"/>
                </a:lnTo>
                <a:lnTo>
                  <a:pt x="0" y="993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96136" y="3114409"/>
            <a:ext cx="369286" cy="31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b="true" sz="2499" spc="-74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146599" y="3748887"/>
            <a:ext cx="803145" cy="993892"/>
          </a:xfrm>
          <a:custGeom>
            <a:avLst/>
            <a:gdLst/>
            <a:ahLst/>
            <a:cxnLst/>
            <a:rect r="r" b="b" t="t" l="l"/>
            <a:pathLst>
              <a:path h="993892" w="803145">
                <a:moveTo>
                  <a:pt x="0" y="0"/>
                </a:moveTo>
                <a:lnTo>
                  <a:pt x="803145" y="0"/>
                </a:lnTo>
                <a:lnTo>
                  <a:pt x="803145" y="993892"/>
                </a:lnTo>
                <a:lnTo>
                  <a:pt x="0" y="9938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56136" y="5254412"/>
            <a:ext cx="2266074" cy="56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1857" spc="-55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(Batch × 60 Frames × 150 Features)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43454" y="6108125"/>
            <a:ext cx="2409435" cy="210826"/>
          </a:xfrm>
          <a:custGeom>
            <a:avLst/>
            <a:gdLst/>
            <a:ahLst/>
            <a:cxnLst/>
            <a:rect r="r" b="b" t="t" l="l"/>
            <a:pathLst>
              <a:path h="210826" w="2409435">
                <a:moveTo>
                  <a:pt x="0" y="0"/>
                </a:moveTo>
                <a:lnTo>
                  <a:pt x="2409435" y="0"/>
                </a:lnTo>
                <a:lnTo>
                  <a:pt x="2409435" y="210826"/>
                </a:lnTo>
                <a:lnTo>
                  <a:pt x="0" y="2108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23279" y="6431703"/>
            <a:ext cx="1812859" cy="100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Gesture sequence input from preprocessed landmarks.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345209" y="2955781"/>
            <a:ext cx="3001754" cy="4738555"/>
          </a:xfrm>
          <a:custGeom>
            <a:avLst/>
            <a:gdLst/>
            <a:ahLst/>
            <a:cxnLst/>
            <a:rect r="r" b="b" t="t" l="l"/>
            <a:pathLst>
              <a:path h="4738555" w="3001754">
                <a:moveTo>
                  <a:pt x="0" y="0"/>
                </a:moveTo>
                <a:lnTo>
                  <a:pt x="3001754" y="0"/>
                </a:lnTo>
                <a:lnTo>
                  <a:pt x="3001754" y="4738556"/>
                </a:lnTo>
                <a:lnTo>
                  <a:pt x="0" y="47385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339101" y="2765034"/>
            <a:ext cx="1013971" cy="993892"/>
          </a:xfrm>
          <a:custGeom>
            <a:avLst/>
            <a:gdLst/>
            <a:ahLst/>
            <a:cxnLst/>
            <a:rect r="r" b="b" t="t" l="l"/>
            <a:pathLst>
              <a:path h="993892" w="1013971">
                <a:moveTo>
                  <a:pt x="0" y="0"/>
                </a:moveTo>
                <a:lnTo>
                  <a:pt x="1013970" y="0"/>
                </a:lnTo>
                <a:lnTo>
                  <a:pt x="1013970" y="993892"/>
                </a:lnTo>
                <a:lnTo>
                  <a:pt x="0" y="99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339101" y="3748887"/>
            <a:ext cx="1013971" cy="993892"/>
          </a:xfrm>
          <a:custGeom>
            <a:avLst/>
            <a:gdLst/>
            <a:ahLst/>
            <a:cxnLst/>
            <a:rect r="r" b="b" t="t" l="l"/>
            <a:pathLst>
              <a:path h="993892" w="1013971">
                <a:moveTo>
                  <a:pt x="0" y="0"/>
                </a:moveTo>
                <a:lnTo>
                  <a:pt x="1013970" y="0"/>
                </a:lnTo>
                <a:lnTo>
                  <a:pt x="1013970" y="993892"/>
                </a:lnTo>
                <a:lnTo>
                  <a:pt x="0" y="993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695782" y="4851326"/>
            <a:ext cx="2484288" cy="94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4"/>
              </a:lnSpc>
            </a:pPr>
            <a:r>
              <a:rPr lang="en-US" b="true" sz="2087" spc="-62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Linear(150→128) + BatchNorm1d + ReLU + Dropout(0.3)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746781" y="6108125"/>
            <a:ext cx="2399396" cy="210826"/>
          </a:xfrm>
          <a:custGeom>
            <a:avLst/>
            <a:gdLst/>
            <a:ahLst/>
            <a:cxnLst/>
            <a:rect r="r" b="b" t="t" l="l"/>
            <a:pathLst>
              <a:path h="210826" w="2399396">
                <a:moveTo>
                  <a:pt x="0" y="0"/>
                </a:moveTo>
                <a:lnTo>
                  <a:pt x="2399396" y="0"/>
                </a:lnTo>
                <a:lnTo>
                  <a:pt x="2399396" y="210826"/>
                </a:lnTo>
                <a:lnTo>
                  <a:pt x="0" y="2108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762924" y="6441787"/>
            <a:ext cx="1812859" cy="50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Feature projection and normalization.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738496" y="2955781"/>
            <a:ext cx="3011794" cy="4738555"/>
          </a:xfrm>
          <a:custGeom>
            <a:avLst/>
            <a:gdLst/>
            <a:ahLst/>
            <a:cxnLst/>
            <a:rect r="r" b="b" t="t" l="l"/>
            <a:pathLst>
              <a:path h="4738555" w="3011794">
                <a:moveTo>
                  <a:pt x="0" y="0"/>
                </a:moveTo>
                <a:lnTo>
                  <a:pt x="3011794" y="0"/>
                </a:lnTo>
                <a:lnTo>
                  <a:pt x="3011794" y="4738556"/>
                </a:lnTo>
                <a:lnTo>
                  <a:pt x="0" y="47385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742428" y="2765034"/>
            <a:ext cx="803145" cy="993892"/>
          </a:xfrm>
          <a:custGeom>
            <a:avLst/>
            <a:gdLst/>
            <a:ahLst/>
            <a:cxnLst/>
            <a:rect r="r" b="b" t="t" l="l"/>
            <a:pathLst>
              <a:path h="993892" w="803145">
                <a:moveTo>
                  <a:pt x="0" y="0"/>
                </a:moveTo>
                <a:lnTo>
                  <a:pt x="803144" y="0"/>
                </a:lnTo>
                <a:lnTo>
                  <a:pt x="803144" y="993892"/>
                </a:lnTo>
                <a:lnTo>
                  <a:pt x="0" y="99389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925786" y="3114409"/>
            <a:ext cx="436429" cy="31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b="true" sz="2499" spc="-74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742428" y="3748887"/>
            <a:ext cx="803145" cy="993892"/>
          </a:xfrm>
          <a:custGeom>
            <a:avLst/>
            <a:gdLst/>
            <a:ahLst/>
            <a:cxnLst/>
            <a:rect r="r" b="b" t="t" l="l"/>
            <a:pathLst>
              <a:path h="993892" w="803145">
                <a:moveTo>
                  <a:pt x="0" y="0"/>
                </a:moveTo>
                <a:lnTo>
                  <a:pt x="803144" y="0"/>
                </a:lnTo>
                <a:lnTo>
                  <a:pt x="803144" y="993892"/>
                </a:lnTo>
                <a:lnTo>
                  <a:pt x="0" y="99389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036142" y="4845775"/>
            <a:ext cx="2266074" cy="3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3"/>
              </a:lnSpc>
            </a:pPr>
            <a:r>
              <a:rPr lang="en-US" b="true" sz="2110" spc="-63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Bidirectional LSTM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85785" y="5262956"/>
            <a:ext cx="2316431" cy="75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5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2 Layers • Hidden=128 • Dropout=0.3 </a:t>
            </a:r>
          </a:p>
          <a:p>
            <a:pPr algn="ctr">
              <a:lnSpc>
                <a:spcPts val="2045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Out: 256–dim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939283" y="6108125"/>
            <a:ext cx="2409435" cy="210826"/>
          </a:xfrm>
          <a:custGeom>
            <a:avLst/>
            <a:gdLst/>
            <a:ahLst/>
            <a:cxnLst/>
            <a:rect r="r" b="b" t="t" l="l"/>
            <a:pathLst>
              <a:path h="210826" w="2409435">
                <a:moveTo>
                  <a:pt x="0" y="0"/>
                </a:moveTo>
                <a:lnTo>
                  <a:pt x="2409434" y="0"/>
                </a:lnTo>
                <a:lnTo>
                  <a:pt x="2409434" y="210826"/>
                </a:lnTo>
                <a:lnTo>
                  <a:pt x="0" y="21082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036142" y="6472171"/>
            <a:ext cx="1812859" cy="75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Captures temporal dependencies in both directions.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941037" y="2955781"/>
            <a:ext cx="3001754" cy="4738555"/>
          </a:xfrm>
          <a:custGeom>
            <a:avLst/>
            <a:gdLst/>
            <a:ahLst/>
            <a:cxnLst/>
            <a:rect r="r" b="b" t="t" l="l"/>
            <a:pathLst>
              <a:path h="4738555" w="3001754">
                <a:moveTo>
                  <a:pt x="0" y="0"/>
                </a:moveTo>
                <a:lnTo>
                  <a:pt x="3001754" y="0"/>
                </a:lnTo>
                <a:lnTo>
                  <a:pt x="3001754" y="4738556"/>
                </a:lnTo>
                <a:lnTo>
                  <a:pt x="0" y="473855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934929" y="2765034"/>
            <a:ext cx="1013971" cy="993892"/>
          </a:xfrm>
          <a:custGeom>
            <a:avLst/>
            <a:gdLst/>
            <a:ahLst/>
            <a:cxnLst/>
            <a:rect r="r" b="b" t="t" l="l"/>
            <a:pathLst>
              <a:path h="993892" w="1013971">
                <a:moveTo>
                  <a:pt x="0" y="0"/>
                </a:moveTo>
                <a:lnTo>
                  <a:pt x="1013970" y="0"/>
                </a:lnTo>
                <a:lnTo>
                  <a:pt x="1013970" y="993892"/>
                </a:lnTo>
                <a:lnTo>
                  <a:pt x="0" y="99389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934929" y="3748887"/>
            <a:ext cx="1013971" cy="993892"/>
          </a:xfrm>
          <a:custGeom>
            <a:avLst/>
            <a:gdLst/>
            <a:ahLst/>
            <a:cxnLst/>
            <a:rect r="r" b="b" t="t" l="l"/>
            <a:pathLst>
              <a:path h="993892" w="1013971">
                <a:moveTo>
                  <a:pt x="0" y="0"/>
                </a:moveTo>
                <a:lnTo>
                  <a:pt x="1013970" y="0"/>
                </a:lnTo>
                <a:lnTo>
                  <a:pt x="1013970" y="993892"/>
                </a:lnTo>
                <a:lnTo>
                  <a:pt x="0" y="99389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577931" y="4860319"/>
            <a:ext cx="1712144" cy="31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</a:pPr>
            <a:r>
              <a:rPr lang="en-US" b="true" sz="2063" spc="-61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Self-Attention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59002" y="5262956"/>
            <a:ext cx="2366788" cy="75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5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Softmax over </a:t>
            </a:r>
          </a:p>
          <a:p>
            <a:pPr algn="ctr">
              <a:lnSpc>
                <a:spcPts val="2045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60 time steps → Weighted context vector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1141823" y="6108125"/>
            <a:ext cx="2600182" cy="210826"/>
          </a:xfrm>
          <a:custGeom>
            <a:avLst/>
            <a:gdLst/>
            <a:ahLst/>
            <a:cxnLst/>
            <a:rect r="r" b="b" t="t" l="l"/>
            <a:pathLst>
              <a:path h="210826" w="2600182">
                <a:moveTo>
                  <a:pt x="0" y="0"/>
                </a:moveTo>
                <a:lnTo>
                  <a:pt x="2600182" y="0"/>
                </a:lnTo>
                <a:lnTo>
                  <a:pt x="2600182" y="210826"/>
                </a:lnTo>
                <a:lnTo>
                  <a:pt x="0" y="21082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292573" y="6472171"/>
            <a:ext cx="1980716" cy="75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Focuses on the most relevant gesture frames.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4133538" y="2955781"/>
            <a:ext cx="3011794" cy="4738555"/>
          </a:xfrm>
          <a:custGeom>
            <a:avLst/>
            <a:gdLst/>
            <a:ahLst/>
            <a:cxnLst/>
            <a:rect r="r" b="b" t="t" l="l"/>
            <a:pathLst>
              <a:path h="4738555" w="3011794">
                <a:moveTo>
                  <a:pt x="0" y="0"/>
                </a:moveTo>
                <a:lnTo>
                  <a:pt x="3011794" y="0"/>
                </a:lnTo>
                <a:lnTo>
                  <a:pt x="3011794" y="4738556"/>
                </a:lnTo>
                <a:lnTo>
                  <a:pt x="0" y="473855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137469" y="2765034"/>
            <a:ext cx="1003931" cy="993892"/>
          </a:xfrm>
          <a:custGeom>
            <a:avLst/>
            <a:gdLst/>
            <a:ahLst/>
            <a:cxnLst/>
            <a:rect r="r" b="b" t="t" l="l"/>
            <a:pathLst>
              <a:path h="993892" w="1003931">
                <a:moveTo>
                  <a:pt x="0" y="0"/>
                </a:moveTo>
                <a:lnTo>
                  <a:pt x="1003932" y="0"/>
                </a:lnTo>
                <a:lnTo>
                  <a:pt x="1003932" y="993892"/>
                </a:lnTo>
                <a:lnTo>
                  <a:pt x="0" y="99389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137469" y="3748887"/>
            <a:ext cx="1204717" cy="993892"/>
          </a:xfrm>
          <a:custGeom>
            <a:avLst/>
            <a:gdLst/>
            <a:ahLst/>
            <a:cxnLst/>
            <a:rect r="r" b="b" t="t" l="l"/>
            <a:pathLst>
              <a:path h="993892" w="1204717">
                <a:moveTo>
                  <a:pt x="0" y="0"/>
                </a:moveTo>
                <a:lnTo>
                  <a:pt x="1204718" y="0"/>
                </a:lnTo>
                <a:lnTo>
                  <a:pt x="1204718" y="993892"/>
                </a:lnTo>
                <a:lnTo>
                  <a:pt x="0" y="99389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4532219" y="4862302"/>
            <a:ext cx="2316431" cy="1204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b="true" sz="2040" spc="-61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Linear(256→128) + ReLU + Dropout + Linear(128→35) → Softmax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4535111" y="6108125"/>
            <a:ext cx="2409435" cy="210826"/>
          </a:xfrm>
          <a:custGeom>
            <a:avLst/>
            <a:gdLst/>
            <a:ahLst/>
            <a:cxnLst/>
            <a:rect r="r" b="b" t="t" l="l"/>
            <a:pathLst>
              <a:path h="210826" w="2409435">
                <a:moveTo>
                  <a:pt x="0" y="0"/>
                </a:moveTo>
                <a:lnTo>
                  <a:pt x="2409435" y="0"/>
                </a:lnTo>
                <a:lnTo>
                  <a:pt x="2409435" y="210826"/>
                </a:lnTo>
                <a:lnTo>
                  <a:pt x="0" y="21082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4632934" y="6472171"/>
            <a:ext cx="1745716" cy="75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Produces class probabilities for 35 ISL classes.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142668" y="7875044"/>
            <a:ext cx="16002664" cy="1586211"/>
          </a:xfrm>
          <a:custGeom>
            <a:avLst/>
            <a:gdLst/>
            <a:ahLst/>
            <a:cxnLst/>
            <a:rect r="r" b="b" t="t" l="l"/>
            <a:pathLst>
              <a:path h="1586211" w="16002664">
                <a:moveTo>
                  <a:pt x="0" y="0"/>
                </a:moveTo>
                <a:lnTo>
                  <a:pt x="16002664" y="0"/>
                </a:lnTo>
                <a:lnTo>
                  <a:pt x="16002664" y="1586212"/>
                </a:lnTo>
                <a:lnTo>
                  <a:pt x="0" y="158621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544241" y="8075831"/>
            <a:ext cx="1013971" cy="1194678"/>
          </a:xfrm>
          <a:custGeom>
            <a:avLst/>
            <a:gdLst/>
            <a:ahLst/>
            <a:cxnLst/>
            <a:rect r="r" b="b" t="t" l="l"/>
            <a:pathLst>
              <a:path h="1194678" w="1013971">
                <a:moveTo>
                  <a:pt x="0" y="0"/>
                </a:moveTo>
                <a:lnTo>
                  <a:pt x="1013970" y="0"/>
                </a:lnTo>
                <a:lnTo>
                  <a:pt x="1013970" y="1194678"/>
                </a:lnTo>
                <a:lnTo>
                  <a:pt x="0" y="119467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745027" y="8467364"/>
            <a:ext cx="612398" cy="602359"/>
          </a:xfrm>
          <a:custGeom>
            <a:avLst/>
            <a:gdLst/>
            <a:ahLst/>
            <a:cxnLst/>
            <a:rect r="r" b="b" t="t" l="l"/>
            <a:pathLst>
              <a:path h="602359" w="612398">
                <a:moveTo>
                  <a:pt x="0" y="0"/>
                </a:moveTo>
                <a:lnTo>
                  <a:pt x="612398" y="0"/>
                </a:lnTo>
                <a:lnTo>
                  <a:pt x="612398" y="602359"/>
                </a:lnTo>
                <a:lnTo>
                  <a:pt x="0" y="60235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939705" y="8276617"/>
            <a:ext cx="210826" cy="793106"/>
          </a:xfrm>
          <a:custGeom>
            <a:avLst/>
            <a:gdLst/>
            <a:ahLst/>
            <a:cxnLst/>
            <a:rect r="r" b="b" t="t" l="l"/>
            <a:pathLst>
              <a:path h="793106" w="210826">
                <a:moveTo>
                  <a:pt x="0" y="0"/>
                </a:moveTo>
                <a:lnTo>
                  <a:pt x="210826" y="0"/>
                </a:lnTo>
                <a:lnTo>
                  <a:pt x="210826" y="793106"/>
                </a:lnTo>
                <a:lnTo>
                  <a:pt x="0" y="79310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3537566" y="8322611"/>
            <a:ext cx="1225358" cy="49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3769" spc="-113" b="true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3000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537566" y="8785171"/>
            <a:ext cx="1342858" cy="3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2110" spc="-63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ISL Classes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5740673" y="8075831"/>
            <a:ext cx="210826" cy="1194678"/>
          </a:xfrm>
          <a:custGeom>
            <a:avLst/>
            <a:gdLst/>
            <a:ahLst/>
            <a:cxnLst/>
            <a:rect r="r" b="b" t="t" l="l"/>
            <a:pathLst>
              <a:path h="1194678" w="210826">
                <a:moveTo>
                  <a:pt x="0" y="0"/>
                </a:moveTo>
                <a:lnTo>
                  <a:pt x="210826" y="0"/>
                </a:lnTo>
                <a:lnTo>
                  <a:pt x="210826" y="1194678"/>
                </a:lnTo>
                <a:lnTo>
                  <a:pt x="0" y="119467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6458283" y="8420490"/>
            <a:ext cx="4347504" cy="58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 deep learning pipeline designed for accurate and real-time gesture recognition.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1734143" y="8075831"/>
            <a:ext cx="210826" cy="1194678"/>
          </a:xfrm>
          <a:custGeom>
            <a:avLst/>
            <a:gdLst/>
            <a:ahLst/>
            <a:cxnLst/>
            <a:rect r="r" b="b" t="t" l="l"/>
            <a:pathLst>
              <a:path h="1194678" w="210826">
                <a:moveTo>
                  <a:pt x="0" y="0"/>
                </a:moveTo>
                <a:lnTo>
                  <a:pt x="210825" y="0"/>
                </a:lnTo>
                <a:lnTo>
                  <a:pt x="210825" y="1194678"/>
                </a:lnTo>
                <a:lnTo>
                  <a:pt x="0" y="1194678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2336501" y="8276617"/>
            <a:ext cx="813184" cy="793106"/>
          </a:xfrm>
          <a:custGeom>
            <a:avLst/>
            <a:gdLst/>
            <a:ahLst/>
            <a:cxnLst/>
            <a:rect r="r" b="b" t="t" l="l"/>
            <a:pathLst>
              <a:path h="793106" w="813184">
                <a:moveTo>
                  <a:pt x="0" y="0"/>
                </a:moveTo>
                <a:lnTo>
                  <a:pt x="813185" y="0"/>
                </a:lnTo>
                <a:lnTo>
                  <a:pt x="813185" y="793106"/>
                </a:lnTo>
                <a:lnTo>
                  <a:pt x="0" y="79310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2537288" y="8467364"/>
            <a:ext cx="612398" cy="602359"/>
          </a:xfrm>
          <a:custGeom>
            <a:avLst/>
            <a:gdLst/>
            <a:ahLst/>
            <a:cxnLst/>
            <a:rect r="r" b="b" t="t" l="l"/>
            <a:pathLst>
              <a:path h="602359" w="612398">
                <a:moveTo>
                  <a:pt x="0" y="0"/>
                </a:moveTo>
                <a:lnTo>
                  <a:pt x="612398" y="0"/>
                </a:lnTo>
                <a:lnTo>
                  <a:pt x="612398" y="602359"/>
                </a:lnTo>
                <a:lnTo>
                  <a:pt x="0" y="60235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3374004" y="8394383"/>
            <a:ext cx="3122146" cy="281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857" spc="-55" b="true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From Gestures to Meaning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374004" y="8735363"/>
            <a:ext cx="2585002" cy="25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704" spc="-5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Powered by Deep Learning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3943636" y="4140420"/>
            <a:ext cx="612398" cy="602359"/>
          </a:xfrm>
          <a:custGeom>
            <a:avLst/>
            <a:gdLst/>
            <a:ahLst/>
            <a:cxnLst/>
            <a:rect r="r" b="b" t="t" l="l"/>
            <a:pathLst>
              <a:path h="602359" w="612398">
                <a:moveTo>
                  <a:pt x="0" y="0"/>
                </a:moveTo>
                <a:lnTo>
                  <a:pt x="612398" y="0"/>
                </a:lnTo>
                <a:lnTo>
                  <a:pt x="612398" y="602359"/>
                </a:lnTo>
                <a:lnTo>
                  <a:pt x="0" y="60235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7336924" y="4140420"/>
            <a:ext cx="411612" cy="602359"/>
          </a:xfrm>
          <a:custGeom>
            <a:avLst/>
            <a:gdLst/>
            <a:ahLst/>
            <a:cxnLst/>
            <a:rect r="r" b="b" t="t" l="l"/>
            <a:pathLst>
              <a:path h="602359" w="411612">
                <a:moveTo>
                  <a:pt x="0" y="0"/>
                </a:moveTo>
                <a:lnTo>
                  <a:pt x="411612" y="0"/>
                </a:lnTo>
                <a:lnTo>
                  <a:pt x="411612" y="602359"/>
                </a:lnTo>
                <a:lnTo>
                  <a:pt x="0" y="602359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0539464" y="4140420"/>
            <a:ext cx="612398" cy="602359"/>
          </a:xfrm>
          <a:custGeom>
            <a:avLst/>
            <a:gdLst/>
            <a:ahLst/>
            <a:cxnLst/>
            <a:rect r="r" b="b" t="t" l="l"/>
            <a:pathLst>
              <a:path h="602359" w="612398">
                <a:moveTo>
                  <a:pt x="0" y="0"/>
                </a:moveTo>
                <a:lnTo>
                  <a:pt x="612398" y="0"/>
                </a:lnTo>
                <a:lnTo>
                  <a:pt x="612398" y="602359"/>
                </a:lnTo>
                <a:lnTo>
                  <a:pt x="0" y="602359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3932752" y="4140420"/>
            <a:ext cx="411612" cy="602359"/>
          </a:xfrm>
          <a:custGeom>
            <a:avLst/>
            <a:gdLst/>
            <a:ahLst/>
            <a:cxnLst/>
            <a:rect r="r" b="b" t="t" l="l"/>
            <a:pathLst>
              <a:path h="602359" w="411612">
                <a:moveTo>
                  <a:pt x="0" y="0"/>
                </a:moveTo>
                <a:lnTo>
                  <a:pt x="411612" y="0"/>
                </a:lnTo>
                <a:lnTo>
                  <a:pt x="411612" y="602359"/>
                </a:lnTo>
                <a:lnTo>
                  <a:pt x="0" y="602359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9008429" y="1226261"/>
            <a:ext cx="4733576" cy="62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4742" spc="-142" b="true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Neural Network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858292" y="939342"/>
            <a:ext cx="1074287" cy="18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4"/>
              </a:lnSpc>
            </a:pPr>
            <a:r>
              <a:rPr lang="en-US" b="true" sz="1474">
                <a:solidFill>
                  <a:srgbClr val="54545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PAGE </a:t>
            </a:r>
            <a:r>
              <a:rPr lang="en-US" b="true" sz="1474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04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669354" y="3114409"/>
            <a:ext cx="419643" cy="31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b="true" sz="2499" spc="-74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199003" y="3114409"/>
            <a:ext cx="436429" cy="31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b="true" sz="2499" spc="-74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489006" y="3114409"/>
            <a:ext cx="436429" cy="31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b="true" sz="2499" spc="-74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909350" y="4845775"/>
            <a:ext cx="1426787" cy="3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3"/>
              </a:lnSpc>
            </a:pPr>
            <a:r>
              <a:rPr lang="en-US" b="true" sz="2110" spc="-63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Input Layer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695516" y="-7205348"/>
            <a:ext cx="27974306" cy="14259706"/>
            <a:chOff x="0" y="0"/>
            <a:chExt cx="37299074" cy="19012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381" r="0" b="-703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22147" y="3943302"/>
            <a:ext cx="27974306" cy="14259706"/>
            <a:chOff x="0" y="0"/>
            <a:chExt cx="37299074" cy="190129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381" r="0" b="-7038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1975" y="3503348"/>
            <a:ext cx="1546539" cy="230336"/>
          </a:xfrm>
          <a:custGeom>
            <a:avLst/>
            <a:gdLst/>
            <a:ahLst/>
            <a:cxnLst/>
            <a:rect r="r" b="b" t="t" l="l"/>
            <a:pathLst>
              <a:path h="230336" w="1546539">
                <a:moveTo>
                  <a:pt x="0" y="0"/>
                </a:moveTo>
                <a:lnTo>
                  <a:pt x="1546539" y="0"/>
                </a:lnTo>
                <a:lnTo>
                  <a:pt x="1546539" y="230336"/>
                </a:lnTo>
                <a:lnTo>
                  <a:pt x="0" y="230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1975" y="4150482"/>
            <a:ext cx="5692580" cy="4518965"/>
          </a:xfrm>
          <a:custGeom>
            <a:avLst/>
            <a:gdLst/>
            <a:ahLst/>
            <a:cxnLst/>
            <a:rect r="r" b="b" t="t" l="l"/>
            <a:pathLst>
              <a:path h="4518965" w="5692580">
                <a:moveTo>
                  <a:pt x="0" y="0"/>
                </a:moveTo>
                <a:lnTo>
                  <a:pt x="5692580" y="0"/>
                </a:lnTo>
                <a:lnTo>
                  <a:pt x="5692580" y="4518965"/>
                </a:lnTo>
                <a:lnTo>
                  <a:pt x="0" y="4518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25312" y="4369849"/>
            <a:ext cx="1765906" cy="1941400"/>
          </a:xfrm>
          <a:custGeom>
            <a:avLst/>
            <a:gdLst/>
            <a:ahLst/>
            <a:cxnLst/>
            <a:rect r="r" b="b" t="t" l="l"/>
            <a:pathLst>
              <a:path h="1941400" w="1765906">
                <a:moveTo>
                  <a:pt x="0" y="0"/>
                </a:moveTo>
                <a:lnTo>
                  <a:pt x="1765906" y="0"/>
                </a:lnTo>
                <a:lnTo>
                  <a:pt x="1765906" y="1941400"/>
                </a:lnTo>
                <a:lnTo>
                  <a:pt x="0" y="1941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0709" y="6728047"/>
            <a:ext cx="4815111" cy="230336"/>
          </a:xfrm>
          <a:custGeom>
            <a:avLst/>
            <a:gdLst/>
            <a:ahLst/>
            <a:cxnLst/>
            <a:rect r="r" b="b" t="t" l="l"/>
            <a:pathLst>
              <a:path h="230336" w="4815111">
                <a:moveTo>
                  <a:pt x="0" y="0"/>
                </a:moveTo>
                <a:lnTo>
                  <a:pt x="4815112" y="0"/>
                </a:lnTo>
                <a:lnTo>
                  <a:pt x="4815112" y="230336"/>
                </a:lnTo>
                <a:lnTo>
                  <a:pt x="0" y="230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43587" y="4150482"/>
            <a:ext cx="5681612" cy="4518965"/>
          </a:xfrm>
          <a:custGeom>
            <a:avLst/>
            <a:gdLst/>
            <a:ahLst/>
            <a:cxnLst/>
            <a:rect r="r" b="b" t="t" l="l"/>
            <a:pathLst>
              <a:path h="4518965" w="5681612">
                <a:moveTo>
                  <a:pt x="0" y="0"/>
                </a:moveTo>
                <a:lnTo>
                  <a:pt x="5681611" y="0"/>
                </a:lnTo>
                <a:lnTo>
                  <a:pt x="5681611" y="4518965"/>
                </a:lnTo>
                <a:lnTo>
                  <a:pt x="0" y="45189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06923" y="4369849"/>
            <a:ext cx="1754938" cy="1941400"/>
          </a:xfrm>
          <a:custGeom>
            <a:avLst/>
            <a:gdLst/>
            <a:ahLst/>
            <a:cxnLst/>
            <a:rect r="r" b="b" t="t" l="l"/>
            <a:pathLst>
              <a:path h="1941400" w="1754938">
                <a:moveTo>
                  <a:pt x="0" y="0"/>
                </a:moveTo>
                <a:lnTo>
                  <a:pt x="1754938" y="0"/>
                </a:lnTo>
                <a:lnTo>
                  <a:pt x="1754938" y="1941400"/>
                </a:lnTo>
                <a:lnTo>
                  <a:pt x="0" y="1941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90720" y="6728047"/>
            <a:ext cx="4595744" cy="230336"/>
          </a:xfrm>
          <a:custGeom>
            <a:avLst/>
            <a:gdLst/>
            <a:ahLst/>
            <a:cxnLst/>
            <a:rect r="r" b="b" t="t" l="l"/>
            <a:pathLst>
              <a:path h="230336" w="4595744">
                <a:moveTo>
                  <a:pt x="0" y="0"/>
                </a:moveTo>
                <a:lnTo>
                  <a:pt x="4595744" y="0"/>
                </a:lnTo>
                <a:lnTo>
                  <a:pt x="4595744" y="230336"/>
                </a:lnTo>
                <a:lnTo>
                  <a:pt x="0" y="2303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33597" y="4150482"/>
            <a:ext cx="5473213" cy="4518965"/>
          </a:xfrm>
          <a:custGeom>
            <a:avLst/>
            <a:gdLst/>
            <a:ahLst/>
            <a:cxnLst/>
            <a:rect r="r" b="b" t="t" l="l"/>
            <a:pathLst>
              <a:path h="4518965" w="5473213">
                <a:moveTo>
                  <a:pt x="0" y="0"/>
                </a:moveTo>
                <a:lnTo>
                  <a:pt x="5473213" y="0"/>
                </a:lnTo>
                <a:lnTo>
                  <a:pt x="5473213" y="4518965"/>
                </a:lnTo>
                <a:lnTo>
                  <a:pt x="0" y="45189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877567" y="4369849"/>
            <a:ext cx="1985274" cy="1941400"/>
          </a:xfrm>
          <a:custGeom>
            <a:avLst/>
            <a:gdLst/>
            <a:ahLst/>
            <a:cxnLst/>
            <a:rect r="r" b="b" t="t" l="l"/>
            <a:pathLst>
              <a:path h="1941400" w="1985274">
                <a:moveTo>
                  <a:pt x="0" y="0"/>
                </a:moveTo>
                <a:lnTo>
                  <a:pt x="1985273" y="0"/>
                </a:lnTo>
                <a:lnTo>
                  <a:pt x="1985273" y="1941400"/>
                </a:lnTo>
                <a:lnTo>
                  <a:pt x="0" y="1941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72332" y="6728047"/>
            <a:ext cx="4595744" cy="230336"/>
          </a:xfrm>
          <a:custGeom>
            <a:avLst/>
            <a:gdLst/>
            <a:ahLst/>
            <a:cxnLst/>
            <a:rect r="r" b="b" t="t" l="l"/>
            <a:pathLst>
              <a:path h="230336" w="4595744">
                <a:moveTo>
                  <a:pt x="0" y="0"/>
                </a:moveTo>
                <a:lnTo>
                  <a:pt x="4595743" y="0"/>
                </a:lnTo>
                <a:lnTo>
                  <a:pt x="4595743" y="230336"/>
                </a:lnTo>
                <a:lnTo>
                  <a:pt x="0" y="2303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597426" y="4828956"/>
            <a:ext cx="1027814" cy="1070919"/>
            <a:chOff x="0" y="0"/>
            <a:chExt cx="270700" cy="2820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0700" cy="282053"/>
            </a:xfrm>
            <a:custGeom>
              <a:avLst/>
              <a:gdLst/>
              <a:ahLst/>
              <a:cxnLst/>
              <a:rect r="r" b="b" t="t" l="l"/>
              <a:pathLst>
                <a:path h="282053" w="270700">
                  <a:moveTo>
                    <a:pt x="0" y="0"/>
                  </a:moveTo>
                  <a:lnTo>
                    <a:pt x="270700" y="0"/>
                  </a:lnTo>
                  <a:lnTo>
                    <a:pt x="270700" y="282053"/>
                  </a:lnTo>
                  <a:lnTo>
                    <a:pt x="0" y="282053"/>
                  </a:lnTo>
                  <a:close/>
                </a:path>
              </a:pathLst>
            </a:custGeom>
            <a:solidFill>
              <a:srgbClr val="FEEAE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70700" cy="329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475351" y="4750312"/>
            <a:ext cx="1271964" cy="1589955"/>
          </a:xfrm>
          <a:custGeom>
            <a:avLst/>
            <a:gdLst/>
            <a:ahLst/>
            <a:cxnLst/>
            <a:rect r="r" b="b" t="t" l="l"/>
            <a:pathLst>
              <a:path h="1589955" w="1271964">
                <a:moveTo>
                  <a:pt x="0" y="0"/>
                </a:moveTo>
                <a:lnTo>
                  <a:pt x="1271964" y="0"/>
                </a:lnTo>
                <a:lnTo>
                  <a:pt x="1271964" y="1589955"/>
                </a:lnTo>
                <a:lnTo>
                  <a:pt x="0" y="158995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85084" y="866504"/>
            <a:ext cx="2714187" cy="365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148" spc="343">
                <a:solidFill>
                  <a:srgbClr val="FF0000"/>
                </a:solidFill>
                <a:latin typeface="Inter 2"/>
                <a:ea typeface="Inter 2"/>
                <a:cs typeface="Inter 2"/>
                <a:sym typeface="Inter 2"/>
              </a:rPr>
              <a:t>WEB INTERFACE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20033" y="873562"/>
            <a:ext cx="641869" cy="30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54"/>
              </a:lnSpc>
            </a:pPr>
            <a:r>
              <a:rPr lang="en-US" sz="1824">
                <a:solidFill>
                  <a:srgbClr val="808080"/>
                </a:solidFill>
                <a:latin typeface="Inter 2"/>
                <a:ea typeface="Inter 2"/>
                <a:cs typeface="Inter 2"/>
                <a:sym typeface="Inter 2"/>
              </a:rPr>
              <a:t>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08614" y="873562"/>
            <a:ext cx="348443" cy="30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54"/>
              </a:lnSpc>
            </a:pPr>
            <a:r>
              <a:rPr lang="en-US" sz="1824">
                <a:solidFill>
                  <a:srgbClr val="FF0000"/>
                </a:solidFill>
                <a:latin typeface="Inter 2"/>
                <a:ea typeface="Inter 2"/>
                <a:cs typeface="Inter 2"/>
                <a:sym typeface="Inter 2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5084" y="1068937"/>
            <a:ext cx="12085468" cy="139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5"/>
              </a:lnSpc>
            </a:pPr>
            <a:r>
              <a:rPr lang="en-US" sz="8175" spc="-327" b="tru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Gradio Web Dashboard &amp;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5084" y="2099963"/>
            <a:ext cx="7115571" cy="139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5"/>
              </a:lnSpc>
            </a:pPr>
            <a:r>
              <a:rPr lang="en-US" b="true" sz="8175" spc="-327">
                <a:solidFill>
                  <a:srgbClr val="FF0000"/>
                </a:solidFill>
                <a:latin typeface="Inter 2 Bold"/>
                <a:ea typeface="Inter 2 Bold"/>
                <a:cs typeface="Inter 2 Bold"/>
                <a:sym typeface="Inter 2 Bold"/>
              </a:rPr>
              <a:t>ISL Vocabulary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0309" y="6292642"/>
            <a:ext cx="3997924" cy="43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b="true" sz="2561" spc="-102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Tab 1 — </a:t>
            </a:r>
            <a:r>
              <a:rPr lang="en-US" b="true" sz="2561" spc="-102">
                <a:solidFill>
                  <a:srgbClr val="FF0000"/>
                </a:solidFill>
                <a:latin typeface="Inter 2 Bold"/>
                <a:ea typeface="Inter 2 Bold"/>
                <a:cs typeface="Inter 2 Bold"/>
                <a:sym typeface="Inter 2 Bold"/>
              </a:rPr>
              <a:t>Video Translation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6883" y="7080373"/>
            <a:ext cx="4566436" cy="11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1"/>
              </a:lnSpc>
            </a:pPr>
            <a:r>
              <a:rPr lang="en-US" sz="2172" spc="-86">
                <a:solidFill>
                  <a:srgbClr val="000000"/>
                </a:solidFill>
                <a:latin typeface="Inter 2 Light"/>
                <a:ea typeface="Inter 2 Light"/>
                <a:cs typeface="Inter 2 Light"/>
                <a:sym typeface="Inter 2 Light"/>
              </a:rPr>
              <a:t>Upload ISL video → Annotated output with landmark tracking &amp; recognized sentence text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67091" y="6292642"/>
            <a:ext cx="4107959" cy="43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b="true" sz="2561" spc="-102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Tab 2 — </a:t>
            </a:r>
            <a:r>
              <a:rPr lang="en-US" b="true" sz="2561" spc="-102">
                <a:solidFill>
                  <a:srgbClr val="FF0000"/>
                </a:solidFill>
                <a:latin typeface="Inter 2 Bold"/>
                <a:ea typeface="Inter 2 Bold"/>
                <a:cs typeface="Inter 2 Bold"/>
                <a:sym typeface="Inter 2 Bold"/>
              </a:rPr>
              <a:t>Supported Vocab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83700" y="7072013"/>
            <a:ext cx="4474741" cy="7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21" spc="-88">
                <a:solidFill>
                  <a:srgbClr val="000000"/>
                </a:solidFill>
                <a:latin typeface="Inter 2 Light"/>
                <a:ea typeface="Inter 2 Light"/>
                <a:cs typeface="Inter 2 Light"/>
                <a:sym typeface="Inter 2 Light"/>
              </a:rPr>
              <a:t>Full list of trained ISL sign classes displayed as interactive labels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25569" y="6292642"/>
            <a:ext cx="4034602" cy="43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b="true" sz="2561" spc="-102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Tab 3 — </a:t>
            </a:r>
            <a:r>
              <a:rPr lang="en-US" b="true" sz="2561" spc="-102">
                <a:solidFill>
                  <a:srgbClr val="FF0000"/>
                </a:solidFill>
                <a:latin typeface="Inter 2 Bold"/>
                <a:ea typeface="Inter 2 Bold"/>
                <a:cs typeface="Inter 2 Bold"/>
                <a:sym typeface="Inter 2 Bold"/>
              </a:rPr>
              <a:t>Architecture Info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23839" y="7081230"/>
            <a:ext cx="4456402" cy="77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6" spc="-87">
                <a:solidFill>
                  <a:srgbClr val="000000"/>
                </a:solidFill>
                <a:latin typeface="Inter 2 Light"/>
                <a:ea typeface="Inter 2 Light"/>
                <a:cs typeface="Inter 2 Light"/>
                <a:sym typeface="Inter 2 Light"/>
              </a:rPr>
              <a:t>Model specs, input dimensions, inference latency, and training details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695516" y="-7205348"/>
            <a:ext cx="27974306" cy="14259706"/>
            <a:chOff x="0" y="0"/>
            <a:chExt cx="37299074" cy="19012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381" r="0" b="-703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22147" y="3943302"/>
            <a:ext cx="27974306" cy="14259706"/>
            <a:chOff x="0" y="0"/>
            <a:chExt cx="37299074" cy="190129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299010" cy="19012915"/>
            </a:xfrm>
            <a:custGeom>
              <a:avLst/>
              <a:gdLst/>
              <a:ahLst/>
              <a:cxnLst/>
              <a:rect r="r" b="b" t="t" l="l"/>
              <a:pathLst>
                <a:path h="19012915" w="37299010">
                  <a:moveTo>
                    <a:pt x="0" y="0"/>
                  </a:moveTo>
                  <a:lnTo>
                    <a:pt x="37299010" y="0"/>
                  </a:lnTo>
                  <a:lnTo>
                    <a:pt x="37299010" y="19012915"/>
                  </a:lnTo>
                  <a:lnTo>
                    <a:pt x="0" y="1901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381" r="0" b="-703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5453" y="547337"/>
            <a:ext cx="4109696" cy="3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b="true" sz="1798" spc="359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&amp;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1967" y="800436"/>
            <a:ext cx="6306257" cy="115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9"/>
              </a:lnSpc>
            </a:pPr>
            <a:r>
              <a:rPr lang="en-US" sz="6792" spc="-2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Metrics &amp;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5453" y="1770584"/>
            <a:ext cx="9618814" cy="107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4"/>
              </a:lnSpc>
            </a:pPr>
            <a:r>
              <a:rPr lang="en-US" sz="6295" spc="-251" b="true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Benchmarks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11967" y="2968101"/>
            <a:ext cx="1281949" cy="222487"/>
          </a:xfrm>
          <a:custGeom>
            <a:avLst/>
            <a:gdLst/>
            <a:ahLst/>
            <a:cxnLst/>
            <a:rect r="r" b="b" t="t" l="l"/>
            <a:pathLst>
              <a:path h="222487" w="1281949">
                <a:moveTo>
                  <a:pt x="0" y="0"/>
                </a:moveTo>
                <a:lnTo>
                  <a:pt x="1281949" y="0"/>
                </a:lnTo>
                <a:lnTo>
                  <a:pt x="1281949" y="222487"/>
                </a:lnTo>
                <a:lnTo>
                  <a:pt x="0" y="222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0075" y="3179994"/>
            <a:ext cx="4227254" cy="2087140"/>
          </a:xfrm>
          <a:custGeom>
            <a:avLst/>
            <a:gdLst/>
            <a:ahLst/>
            <a:cxnLst/>
            <a:rect r="r" b="b" t="t" l="l"/>
            <a:pathLst>
              <a:path h="2087140" w="4227254">
                <a:moveTo>
                  <a:pt x="0" y="0"/>
                </a:moveTo>
                <a:lnTo>
                  <a:pt x="4227254" y="0"/>
                </a:lnTo>
                <a:lnTo>
                  <a:pt x="4227254" y="2087140"/>
                </a:lnTo>
                <a:lnTo>
                  <a:pt x="0" y="2087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11967" y="3593184"/>
            <a:ext cx="1493841" cy="1462058"/>
          </a:xfrm>
          <a:custGeom>
            <a:avLst/>
            <a:gdLst/>
            <a:ahLst/>
            <a:cxnLst/>
            <a:rect r="r" b="b" t="t" l="l"/>
            <a:pathLst>
              <a:path h="1462058" w="1493841">
                <a:moveTo>
                  <a:pt x="0" y="0"/>
                </a:moveTo>
                <a:lnTo>
                  <a:pt x="1493842" y="0"/>
                </a:lnTo>
                <a:lnTo>
                  <a:pt x="1493842" y="1462057"/>
                </a:lnTo>
                <a:lnTo>
                  <a:pt x="0" y="14620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35752" y="3805076"/>
            <a:ext cx="858164" cy="836975"/>
          </a:xfrm>
          <a:custGeom>
            <a:avLst/>
            <a:gdLst/>
            <a:ahLst/>
            <a:cxnLst/>
            <a:rect r="r" b="b" t="t" l="l"/>
            <a:pathLst>
              <a:path h="836975" w="858164">
                <a:moveTo>
                  <a:pt x="0" y="0"/>
                </a:moveTo>
                <a:lnTo>
                  <a:pt x="858164" y="0"/>
                </a:lnTo>
                <a:lnTo>
                  <a:pt x="858164" y="836975"/>
                </a:lnTo>
                <a:lnTo>
                  <a:pt x="0" y="836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25160" y="3632398"/>
            <a:ext cx="1629707" cy="83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b="true" sz="4888" spc="-195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85%+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25160" y="4484060"/>
            <a:ext cx="1824563" cy="3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 Val Accuracy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816734" y="3179994"/>
            <a:ext cx="4227254" cy="2087140"/>
          </a:xfrm>
          <a:custGeom>
            <a:avLst/>
            <a:gdLst/>
            <a:ahLst/>
            <a:cxnLst/>
            <a:rect r="r" b="b" t="t" l="l"/>
            <a:pathLst>
              <a:path h="2087140" w="4227254">
                <a:moveTo>
                  <a:pt x="0" y="0"/>
                </a:moveTo>
                <a:lnTo>
                  <a:pt x="4227254" y="0"/>
                </a:lnTo>
                <a:lnTo>
                  <a:pt x="4227254" y="2087140"/>
                </a:lnTo>
                <a:lnTo>
                  <a:pt x="0" y="20871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028626" y="3593184"/>
            <a:ext cx="1493841" cy="1462058"/>
          </a:xfrm>
          <a:custGeom>
            <a:avLst/>
            <a:gdLst/>
            <a:ahLst/>
            <a:cxnLst/>
            <a:rect r="r" b="b" t="t" l="l"/>
            <a:pathLst>
              <a:path h="1462058" w="1493841">
                <a:moveTo>
                  <a:pt x="0" y="0"/>
                </a:moveTo>
                <a:lnTo>
                  <a:pt x="1493842" y="0"/>
                </a:lnTo>
                <a:lnTo>
                  <a:pt x="1493842" y="1462057"/>
                </a:lnTo>
                <a:lnTo>
                  <a:pt x="0" y="14620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452411" y="3805076"/>
            <a:ext cx="646272" cy="836975"/>
          </a:xfrm>
          <a:custGeom>
            <a:avLst/>
            <a:gdLst/>
            <a:ahLst/>
            <a:cxnLst/>
            <a:rect r="r" b="b" t="t" l="l"/>
            <a:pathLst>
              <a:path h="836975" w="646272">
                <a:moveTo>
                  <a:pt x="0" y="0"/>
                </a:moveTo>
                <a:lnTo>
                  <a:pt x="646272" y="0"/>
                </a:lnTo>
                <a:lnTo>
                  <a:pt x="646272" y="836975"/>
                </a:lnTo>
                <a:lnTo>
                  <a:pt x="0" y="836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510856" y="3676954"/>
            <a:ext cx="1895420" cy="81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8"/>
              </a:lnSpc>
            </a:pPr>
            <a:r>
              <a:rPr lang="en-US" b="true" sz="4755" spc="-190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30 FPS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28570" y="4484060"/>
            <a:ext cx="2037134" cy="3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Inference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043988" y="3179994"/>
            <a:ext cx="4227254" cy="2087140"/>
          </a:xfrm>
          <a:custGeom>
            <a:avLst/>
            <a:gdLst/>
            <a:ahLst/>
            <a:cxnLst/>
            <a:rect r="r" b="b" t="t" l="l"/>
            <a:pathLst>
              <a:path h="2087140" w="4227254">
                <a:moveTo>
                  <a:pt x="0" y="0"/>
                </a:moveTo>
                <a:lnTo>
                  <a:pt x="4227253" y="0"/>
                </a:lnTo>
                <a:lnTo>
                  <a:pt x="4227253" y="2087140"/>
                </a:lnTo>
                <a:lnTo>
                  <a:pt x="0" y="2087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245285" y="3593184"/>
            <a:ext cx="1493841" cy="1462058"/>
          </a:xfrm>
          <a:custGeom>
            <a:avLst/>
            <a:gdLst/>
            <a:ahLst/>
            <a:cxnLst/>
            <a:rect r="r" b="b" t="t" l="l"/>
            <a:pathLst>
              <a:path h="1462058" w="1493841">
                <a:moveTo>
                  <a:pt x="0" y="0"/>
                </a:moveTo>
                <a:lnTo>
                  <a:pt x="1493842" y="0"/>
                </a:lnTo>
                <a:lnTo>
                  <a:pt x="1493842" y="1462057"/>
                </a:lnTo>
                <a:lnTo>
                  <a:pt x="0" y="14620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669070" y="3805076"/>
            <a:ext cx="646272" cy="836975"/>
          </a:xfrm>
          <a:custGeom>
            <a:avLst/>
            <a:gdLst/>
            <a:ahLst/>
            <a:cxnLst/>
            <a:rect r="r" b="b" t="t" l="l"/>
            <a:pathLst>
              <a:path h="836975" w="646272">
                <a:moveTo>
                  <a:pt x="0" y="0"/>
                </a:moveTo>
                <a:lnTo>
                  <a:pt x="646272" y="0"/>
                </a:lnTo>
                <a:lnTo>
                  <a:pt x="646272" y="836975"/>
                </a:lnTo>
                <a:lnTo>
                  <a:pt x="0" y="8369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833122" y="3592519"/>
            <a:ext cx="1558850" cy="83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b="true" sz="4888" spc="-195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&lt;0.5s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97694" y="4484060"/>
            <a:ext cx="2054848" cy="3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TTS Trigger Latency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260646" y="3179994"/>
            <a:ext cx="4227254" cy="2087140"/>
          </a:xfrm>
          <a:custGeom>
            <a:avLst/>
            <a:gdLst/>
            <a:ahLst/>
            <a:cxnLst/>
            <a:rect r="r" b="b" t="t" l="l"/>
            <a:pathLst>
              <a:path h="2087140" w="4227254">
                <a:moveTo>
                  <a:pt x="0" y="0"/>
                </a:moveTo>
                <a:lnTo>
                  <a:pt x="4227254" y="0"/>
                </a:lnTo>
                <a:lnTo>
                  <a:pt x="4227254" y="2087140"/>
                </a:lnTo>
                <a:lnTo>
                  <a:pt x="0" y="208714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472539" y="3593184"/>
            <a:ext cx="1483247" cy="1260760"/>
          </a:xfrm>
          <a:custGeom>
            <a:avLst/>
            <a:gdLst/>
            <a:ahLst/>
            <a:cxnLst/>
            <a:rect r="r" b="b" t="t" l="l"/>
            <a:pathLst>
              <a:path h="1260760" w="1483247">
                <a:moveTo>
                  <a:pt x="0" y="0"/>
                </a:moveTo>
                <a:lnTo>
                  <a:pt x="1483247" y="0"/>
                </a:lnTo>
                <a:lnTo>
                  <a:pt x="1483247" y="1260760"/>
                </a:lnTo>
                <a:lnTo>
                  <a:pt x="0" y="12607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885729" y="3805076"/>
            <a:ext cx="646272" cy="836975"/>
          </a:xfrm>
          <a:custGeom>
            <a:avLst/>
            <a:gdLst/>
            <a:ahLst/>
            <a:cxnLst/>
            <a:rect r="r" b="b" t="t" l="l"/>
            <a:pathLst>
              <a:path h="836975" w="646272">
                <a:moveTo>
                  <a:pt x="0" y="0"/>
                </a:moveTo>
                <a:lnTo>
                  <a:pt x="646272" y="0"/>
                </a:lnTo>
                <a:lnTo>
                  <a:pt x="646272" y="836975"/>
                </a:lnTo>
                <a:lnTo>
                  <a:pt x="0" y="836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5084532" y="3592519"/>
            <a:ext cx="1239994" cy="83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b="true" sz="4888" spc="-195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&lt;5%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66817" y="4484060"/>
            <a:ext cx="1877706" cy="3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Idle False_Positive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00075" y="5468432"/>
            <a:ext cx="8443912" cy="3951793"/>
          </a:xfrm>
          <a:custGeom>
            <a:avLst/>
            <a:gdLst/>
            <a:ahLst/>
            <a:cxnLst/>
            <a:rect r="r" b="b" t="t" l="l"/>
            <a:pathLst>
              <a:path h="3951793" w="8443912">
                <a:moveTo>
                  <a:pt x="0" y="0"/>
                </a:moveTo>
                <a:lnTo>
                  <a:pt x="8443913" y="0"/>
                </a:lnTo>
                <a:lnTo>
                  <a:pt x="8443913" y="3951793"/>
                </a:lnTo>
                <a:lnTo>
                  <a:pt x="0" y="3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23860" y="5468432"/>
            <a:ext cx="858164" cy="1048867"/>
          </a:xfrm>
          <a:custGeom>
            <a:avLst/>
            <a:gdLst/>
            <a:ahLst/>
            <a:cxnLst/>
            <a:rect r="r" b="b" t="t" l="l"/>
            <a:pathLst>
              <a:path h="1048867" w="858164">
                <a:moveTo>
                  <a:pt x="0" y="0"/>
                </a:moveTo>
                <a:lnTo>
                  <a:pt x="858164" y="0"/>
                </a:lnTo>
                <a:lnTo>
                  <a:pt x="858164" y="1048867"/>
                </a:lnTo>
                <a:lnTo>
                  <a:pt x="0" y="10488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23860" y="5669729"/>
            <a:ext cx="646272" cy="635677"/>
          </a:xfrm>
          <a:custGeom>
            <a:avLst/>
            <a:gdLst/>
            <a:ahLst/>
            <a:cxnLst/>
            <a:rect r="r" b="b" t="t" l="l"/>
            <a:pathLst>
              <a:path h="635677" w="646272">
                <a:moveTo>
                  <a:pt x="0" y="0"/>
                </a:moveTo>
                <a:lnTo>
                  <a:pt x="646272" y="0"/>
                </a:lnTo>
                <a:lnTo>
                  <a:pt x="646272" y="635678"/>
                </a:lnTo>
                <a:lnTo>
                  <a:pt x="0" y="63567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78880" y="6537785"/>
            <a:ext cx="3330271" cy="3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Random Forest + DTW (Legacy)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23860" y="6919895"/>
            <a:ext cx="7606937" cy="423785"/>
          </a:xfrm>
          <a:custGeom>
            <a:avLst/>
            <a:gdLst/>
            <a:ahLst/>
            <a:cxnLst/>
            <a:rect r="r" b="b" t="t" l="l"/>
            <a:pathLst>
              <a:path h="423785" w="7606937">
                <a:moveTo>
                  <a:pt x="0" y="0"/>
                </a:moveTo>
                <a:lnTo>
                  <a:pt x="7606937" y="0"/>
                </a:lnTo>
                <a:lnTo>
                  <a:pt x="7606937" y="423784"/>
                </a:lnTo>
                <a:lnTo>
                  <a:pt x="0" y="42378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803993" y="6501608"/>
            <a:ext cx="797139" cy="3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4"/>
              </a:lnSpc>
            </a:pPr>
            <a:r>
              <a:rPr lang="en-US" b="true" sz="2202" spc="-88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~72%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8880" y="7454983"/>
            <a:ext cx="3259414" cy="3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BiLSTM + Self-Attention (Ours)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023860" y="7746275"/>
            <a:ext cx="7606937" cy="423785"/>
          </a:xfrm>
          <a:custGeom>
            <a:avLst/>
            <a:gdLst/>
            <a:ahLst/>
            <a:cxnLst/>
            <a:rect r="r" b="b" t="t" l="l"/>
            <a:pathLst>
              <a:path h="423785" w="7606937">
                <a:moveTo>
                  <a:pt x="0" y="0"/>
                </a:moveTo>
                <a:lnTo>
                  <a:pt x="7606937" y="0"/>
                </a:lnTo>
                <a:lnTo>
                  <a:pt x="7606937" y="423785"/>
                </a:lnTo>
                <a:lnTo>
                  <a:pt x="0" y="42378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7803993" y="7418805"/>
            <a:ext cx="797139" cy="3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4"/>
              </a:lnSpc>
            </a:pPr>
            <a:r>
              <a:rPr lang="en-US" b="true" sz="2202" spc="-88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≠85%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8880" y="8402089"/>
            <a:ext cx="1346280" cy="3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Ideal Target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023860" y="8784548"/>
            <a:ext cx="7606937" cy="423785"/>
          </a:xfrm>
          <a:custGeom>
            <a:avLst/>
            <a:gdLst/>
            <a:ahLst/>
            <a:cxnLst/>
            <a:rect r="r" b="b" t="t" l="l"/>
            <a:pathLst>
              <a:path h="423785" w="7606937">
                <a:moveTo>
                  <a:pt x="0" y="0"/>
                </a:moveTo>
                <a:lnTo>
                  <a:pt x="7606937" y="0"/>
                </a:lnTo>
                <a:lnTo>
                  <a:pt x="7606937" y="423785"/>
                </a:lnTo>
                <a:lnTo>
                  <a:pt x="0" y="42378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3421" y="8365912"/>
            <a:ext cx="619997" cy="3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4"/>
              </a:lnSpc>
            </a:pPr>
            <a:r>
              <a:rPr lang="en-US" b="true" sz="2202" spc="-88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92%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043988" y="5468432"/>
            <a:ext cx="8232020" cy="3951793"/>
          </a:xfrm>
          <a:custGeom>
            <a:avLst/>
            <a:gdLst/>
            <a:ahLst/>
            <a:cxnLst/>
            <a:rect r="r" b="b" t="t" l="l"/>
            <a:pathLst>
              <a:path h="3951793" w="8232020">
                <a:moveTo>
                  <a:pt x="0" y="0"/>
                </a:moveTo>
                <a:lnTo>
                  <a:pt x="8232020" y="0"/>
                </a:lnTo>
                <a:lnTo>
                  <a:pt x="8232020" y="3951793"/>
                </a:lnTo>
                <a:lnTo>
                  <a:pt x="0" y="3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245285" y="5468432"/>
            <a:ext cx="858164" cy="1048867"/>
          </a:xfrm>
          <a:custGeom>
            <a:avLst/>
            <a:gdLst/>
            <a:ahLst/>
            <a:cxnLst/>
            <a:rect r="r" b="b" t="t" l="l"/>
            <a:pathLst>
              <a:path h="1048867" w="858164">
                <a:moveTo>
                  <a:pt x="0" y="0"/>
                </a:moveTo>
                <a:lnTo>
                  <a:pt x="858165" y="0"/>
                </a:lnTo>
                <a:lnTo>
                  <a:pt x="858165" y="1048867"/>
                </a:lnTo>
                <a:lnTo>
                  <a:pt x="0" y="104886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457178" y="5669729"/>
            <a:ext cx="646272" cy="635677"/>
          </a:xfrm>
          <a:custGeom>
            <a:avLst/>
            <a:gdLst/>
            <a:ahLst/>
            <a:cxnLst/>
            <a:rect r="r" b="b" t="t" l="l"/>
            <a:pathLst>
              <a:path h="635677" w="646272">
                <a:moveTo>
                  <a:pt x="0" y="0"/>
                </a:moveTo>
                <a:lnTo>
                  <a:pt x="646272" y="0"/>
                </a:lnTo>
                <a:lnTo>
                  <a:pt x="646272" y="635678"/>
                </a:lnTo>
                <a:lnTo>
                  <a:pt x="0" y="63567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245285" y="6294812"/>
            <a:ext cx="3814063" cy="2913521"/>
          </a:xfrm>
          <a:custGeom>
            <a:avLst/>
            <a:gdLst/>
            <a:ahLst/>
            <a:cxnLst/>
            <a:rect r="r" b="b" t="t" l="l"/>
            <a:pathLst>
              <a:path h="2913521" w="3814063">
                <a:moveTo>
                  <a:pt x="0" y="0"/>
                </a:moveTo>
                <a:lnTo>
                  <a:pt x="3814064" y="0"/>
                </a:lnTo>
                <a:lnTo>
                  <a:pt x="3814064" y="2913521"/>
                </a:lnTo>
                <a:lnTo>
                  <a:pt x="0" y="29135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9669070" y="6708002"/>
            <a:ext cx="858164" cy="847570"/>
          </a:xfrm>
          <a:custGeom>
            <a:avLst/>
            <a:gdLst/>
            <a:ahLst/>
            <a:cxnLst/>
            <a:rect r="r" b="b" t="t" l="l"/>
            <a:pathLst>
              <a:path h="847570" w="858164">
                <a:moveTo>
                  <a:pt x="0" y="0"/>
                </a:moveTo>
                <a:lnTo>
                  <a:pt x="858164" y="0"/>
                </a:lnTo>
                <a:lnTo>
                  <a:pt x="858164" y="847570"/>
                </a:lnTo>
                <a:lnTo>
                  <a:pt x="0" y="84757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0726837" y="6740877"/>
            <a:ext cx="1771421" cy="3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2" spc="-88" b="true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 + ngrok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726837" y="7222920"/>
            <a:ext cx="1877706" cy="135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1960" spc="-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2–5 FPS</a:t>
            </a:r>
          </a:p>
          <a:p>
            <a:pPr algn="l">
              <a:lnSpc>
                <a:spcPts val="2744"/>
              </a:lnSpc>
            </a:pPr>
            <a:r>
              <a:rPr lang="en-US" sz="1960" spc="-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200–800ms lag</a:t>
            </a:r>
          </a:p>
          <a:p>
            <a:pPr algn="l">
              <a:lnSpc>
                <a:spcPts val="2744"/>
              </a:lnSpc>
            </a:pPr>
            <a:r>
              <a:rPr lang="en-US" sz="1960" spc="-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Needs internet</a:t>
            </a:r>
          </a:p>
          <a:p>
            <a:pPr algn="l">
              <a:lnSpc>
                <a:spcPts val="2744"/>
              </a:lnSpc>
            </a:pPr>
            <a:r>
              <a:rPr lang="en-US" sz="1960" spc="-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Crash risk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3260646" y="6294812"/>
            <a:ext cx="3803469" cy="2913521"/>
          </a:xfrm>
          <a:custGeom>
            <a:avLst/>
            <a:gdLst/>
            <a:ahLst/>
            <a:cxnLst/>
            <a:rect r="r" b="b" t="t" l="l"/>
            <a:pathLst>
              <a:path h="2913521" w="3803469">
                <a:moveTo>
                  <a:pt x="0" y="0"/>
                </a:moveTo>
                <a:lnTo>
                  <a:pt x="3803469" y="0"/>
                </a:lnTo>
                <a:lnTo>
                  <a:pt x="3803469" y="2913521"/>
                </a:lnTo>
                <a:lnTo>
                  <a:pt x="0" y="291352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3472539" y="6708002"/>
            <a:ext cx="635677" cy="635677"/>
          </a:xfrm>
          <a:custGeom>
            <a:avLst/>
            <a:gdLst/>
            <a:ahLst/>
            <a:cxnLst/>
            <a:rect r="r" b="b" t="t" l="l"/>
            <a:pathLst>
              <a:path h="635677" w="635677">
                <a:moveTo>
                  <a:pt x="0" y="0"/>
                </a:moveTo>
                <a:lnTo>
                  <a:pt x="635677" y="0"/>
                </a:lnTo>
                <a:lnTo>
                  <a:pt x="635677" y="635677"/>
                </a:lnTo>
                <a:lnTo>
                  <a:pt x="0" y="63567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4411392" y="6772485"/>
            <a:ext cx="1700564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8"/>
              </a:lnSpc>
            </a:pPr>
            <a:r>
              <a:rPr lang="en-US" sz="1856" spc="-74" b="true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 Inference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6173175" y="6729811"/>
            <a:ext cx="434379" cy="423785"/>
          </a:xfrm>
          <a:custGeom>
            <a:avLst/>
            <a:gdLst/>
            <a:ahLst/>
            <a:cxnLst/>
            <a:rect r="r" b="b" t="t" l="l"/>
            <a:pathLst>
              <a:path h="423785" w="434379">
                <a:moveTo>
                  <a:pt x="0" y="0"/>
                </a:moveTo>
                <a:lnTo>
                  <a:pt x="434379" y="0"/>
                </a:lnTo>
                <a:lnTo>
                  <a:pt x="434379" y="423785"/>
                </a:lnTo>
                <a:lnTo>
                  <a:pt x="0" y="42378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4411392" y="7222920"/>
            <a:ext cx="1700564" cy="135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1960" spc="-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20–30 FPS</a:t>
            </a:r>
          </a:p>
          <a:p>
            <a:pPr algn="l">
              <a:lnSpc>
                <a:spcPts val="2744"/>
              </a:lnSpc>
            </a:pPr>
            <a:r>
              <a:rPr lang="en-US" sz="1960" spc="-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&lt;10ms latency</a:t>
            </a:r>
          </a:p>
          <a:p>
            <a:pPr algn="l">
              <a:lnSpc>
                <a:spcPts val="2744"/>
              </a:lnSpc>
            </a:pPr>
            <a:r>
              <a:rPr lang="en-US" sz="1960" spc="-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100% Offline</a:t>
            </a:r>
          </a:p>
          <a:p>
            <a:pPr algn="l">
              <a:lnSpc>
                <a:spcPts val="2744"/>
              </a:lnSpc>
            </a:pPr>
            <a:r>
              <a:rPr lang="en-US" sz="1960" spc="-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Zero crash risk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129670" y="835209"/>
            <a:ext cx="637711" cy="3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>
                <a:solidFill>
                  <a:srgbClr val="737373"/>
                </a:solidFill>
                <a:latin typeface="Canva Sans"/>
                <a:ea typeface="Canva Sans"/>
                <a:cs typeface="Canva Sans"/>
                <a:sym typeface="Canva Sans"/>
              </a:rPr>
              <a:t>PAGE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891380" y="835209"/>
            <a:ext cx="336570" cy="3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18"/>
              </a:lnSpc>
            </a:pPr>
            <a:r>
              <a:rPr lang="en-US" b="true" sz="1798">
                <a:solidFill>
                  <a:srgbClr val="E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834306" y="5803740"/>
            <a:ext cx="3418842" cy="3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2" spc="-8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Legacy vs. Unified Model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337124" y="5803740"/>
            <a:ext cx="3365699" cy="3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2" spc="-8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 vs. Local Inference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0048" y="-343148"/>
            <a:ext cx="19508086" cy="10973295"/>
            <a:chOff x="0" y="0"/>
            <a:chExt cx="26010781" cy="146310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10744" cy="14631036"/>
            </a:xfrm>
            <a:custGeom>
              <a:avLst/>
              <a:gdLst/>
              <a:ahLst/>
              <a:cxnLst/>
              <a:rect r="r" b="b" t="t" l="l"/>
              <a:pathLst>
                <a:path h="14631036" w="26010744">
                  <a:moveTo>
                    <a:pt x="0" y="0"/>
                  </a:moveTo>
                  <a:lnTo>
                    <a:pt x="26010744" y="0"/>
                  </a:lnTo>
                  <a:lnTo>
                    <a:pt x="26010744" y="14631036"/>
                  </a:lnTo>
                  <a:lnTo>
                    <a:pt x="0" y="14631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227810" y="1530363"/>
            <a:ext cx="4865446" cy="5028838"/>
          </a:xfrm>
          <a:custGeom>
            <a:avLst/>
            <a:gdLst/>
            <a:ahLst/>
            <a:cxnLst/>
            <a:rect r="r" b="b" t="t" l="l"/>
            <a:pathLst>
              <a:path h="5028838" w="4865446">
                <a:moveTo>
                  <a:pt x="0" y="0"/>
                </a:moveTo>
                <a:lnTo>
                  <a:pt x="4865447" y="0"/>
                </a:lnTo>
                <a:lnTo>
                  <a:pt x="4865447" y="5028838"/>
                </a:lnTo>
                <a:lnTo>
                  <a:pt x="0" y="5028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40920" y="1074515"/>
            <a:ext cx="4647590" cy="728167"/>
          </a:xfrm>
          <a:custGeom>
            <a:avLst/>
            <a:gdLst/>
            <a:ahLst/>
            <a:cxnLst/>
            <a:rect r="r" b="b" t="t" l="l"/>
            <a:pathLst>
              <a:path h="728167" w="4647590">
                <a:moveTo>
                  <a:pt x="0" y="0"/>
                </a:moveTo>
                <a:lnTo>
                  <a:pt x="4647590" y="0"/>
                </a:lnTo>
                <a:lnTo>
                  <a:pt x="4647590" y="728167"/>
                </a:lnTo>
                <a:lnTo>
                  <a:pt x="0" y="728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51885" y="1413462"/>
            <a:ext cx="1893360" cy="358016"/>
            <a:chOff x="0" y="0"/>
            <a:chExt cx="2524481" cy="4773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24506" cy="477393"/>
            </a:xfrm>
            <a:custGeom>
              <a:avLst/>
              <a:gdLst/>
              <a:ahLst/>
              <a:cxnLst/>
              <a:rect r="r" b="b" t="t" l="l"/>
              <a:pathLst>
                <a:path h="477393" w="2524506">
                  <a:moveTo>
                    <a:pt x="0" y="0"/>
                  </a:moveTo>
                  <a:lnTo>
                    <a:pt x="2524506" y="0"/>
                  </a:lnTo>
                  <a:lnTo>
                    <a:pt x="2524506" y="477393"/>
                  </a:lnTo>
                  <a:lnTo>
                    <a:pt x="0" y="477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81" t="0" r="-180" b="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69025" y="1432750"/>
            <a:ext cx="412680" cy="338728"/>
            <a:chOff x="0" y="0"/>
            <a:chExt cx="550240" cy="4516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0291" cy="451612"/>
            </a:xfrm>
            <a:custGeom>
              <a:avLst/>
              <a:gdLst/>
              <a:ahLst/>
              <a:cxnLst/>
              <a:rect r="r" b="b" t="t" l="l"/>
              <a:pathLst>
                <a:path h="451612" w="550291">
                  <a:moveTo>
                    <a:pt x="0" y="0"/>
                  </a:moveTo>
                  <a:lnTo>
                    <a:pt x="550291" y="0"/>
                  </a:lnTo>
                  <a:lnTo>
                    <a:pt x="550291" y="451612"/>
                  </a:lnTo>
                  <a:lnTo>
                    <a:pt x="0" y="451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916" r="9" b="-1092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DAHV2TkpSVk</dc:identifier>
  <dcterms:modified xsi:type="dcterms:W3CDTF">2011-08-01T06:04:30Z</dcterms:modified>
  <cp:revision>1</cp:revision>
  <dc:title>Voiceless to Voice.pptx</dc:title>
</cp:coreProperties>
</file>